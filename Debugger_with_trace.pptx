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4"/>
  </p:notesMasterIdLst>
  <p:sldIdLst>
    <p:sldId id="293" r:id="rId2"/>
    <p:sldId id="290" r:id="rId3"/>
    <p:sldId id="291" r:id="rId4"/>
    <p:sldId id="289" r:id="rId5"/>
    <p:sldId id="294" r:id="rId6"/>
    <p:sldId id="303" r:id="rId7"/>
    <p:sldId id="304" r:id="rId8"/>
    <p:sldId id="295" r:id="rId9"/>
    <p:sldId id="311" r:id="rId10"/>
    <p:sldId id="312" r:id="rId11"/>
    <p:sldId id="313" r:id="rId12"/>
    <p:sldId id="314" r:id="rId13"/>
    <p:sldId id="315" r:id="rId14"/>
    <p:sldId id="316" r:id="rId15"/>
    <p:sldId id="305" r:id="rId16"/>
    <p:sldId id="306" r:id="rId17"/>
    <p:sldId id="307" r:id="rId18"/>
    <p:sldId id="308" r:id="rId19"/>
    <p:sldId id="317" r:id="rId20"/>
    <p:sldId id="319" r:id="rId21"/>
    <p:sldId id="309" r:id="rId22"/>
    <p:sldId id="310" r:id="rId23"/>
    <p:sldId id="320" r:id="rId24"/>
    <p:sldId id="342" r:id="rId25"/>
    <p:sldId id="336" r:id="rId26"/>
    <p:sldId id="321" r:id="rId27"/>
    <p:sldId id="322" r:id="rId28"/>
    <p:sldId id="296" r:id="rId29"/>
    <p:sldId id="324" r:id="rId30"/>
    <p:sldId id="325" r:id="rId31"/>
    <p:sldId id="326" r:id="rId32"/>
    <p:sldId id="327" r:id="rId33"/>
    <p:sldId id="323" r:id="rId34"/>
    <p:sldId id="328" r:id="rId35"/>
    <p:sldId id="297" r:id="rId36"/>
    <p:sldId id="329" r:id="rId37"/>
    <p:sldId id="330" r:id="rId38"/>
    <p:sldId id="331" r:id="rId39"/>
    <p:sldId id="332" r:id="rId40"/>
    <p:sldId id="298" r:id="rId41"/>
    <p:sldId id="333" r:id="rId42"/>
    <p:sldId id="334" r:id="rId43"/>
    <p:sldId id="335" r:id="rId44"/>
    <p:sldId id="299" r:id="rId45"/>
    <p:sldId id="337" r:id="rId46"/>
    <p:sldId id="338" r:id="rId47"/>
    <p:sldId id="339" r:id="rId48"/>
    <p:sldId id="343" r:id="rId49"/>
    <p:sldId id="340" r:id="rId50"/>
    <p:sldId id="341" r:id="rId51"/>
    <p:sldId id="300" r:id="rId52"/>
    <p:sldId id="344" r:id="rId53"/>
    <p:sldId id="345" r:id="rId54"/>
    <p:sldId id="346" r:id="rId55"/>
    <p:sldId id="347" r:id="rId56"/>
    <p:sldId id="348" r:id="rId57"/>
    <p:sldId id="351" r:id="rId58"/>
    <p:sldId id="301" r:id="rId59"/>
    <p:sldId id="349" r:id="rId60"/>
    <p:sldId id="292" r:id="rId61"/>
    <p:sldId id="350" r:id="rId62"/>
    <p:sldId id="265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CC9DB1F-F246-422E-9D69-5E2B0FB7BEA5}">
          <p14:sldIdLst>
            <p14:sldId id="293"/>
            <p14:sldId id="290"/>
            <p14:sldId id="291"/>
            <p14:sldId id="289"/>
            <p14:sldId id="294"/>
            <p14:sldId id="303"/>
            <p14:sldId id="304"/>
            <p14:sldId id="295"/>
            <p14:sldId id="311"/>
            <p14:sldId id="312"/>
            <p14:sldId id="313"/>
            <p14:sldId id="314"/>
            <p14:sldId id="315"/>
            <p14:sldId id="316"/>
            <p14:sldId id="305"/>
            <p14:sldId id="306"/>
            <p14:sldId id="307"/>
            <p14:sldId id="308"/>
            <p14:sldId id="317"/>
            <p14:sldId id="319"/>
            <p14:sldId id="309"/>
            <p14:sldId id="310"/>
            <p14:sldId id="320"/>
            <p14:sldId id="342"/>
            <p14:sldId id="336"/>
            <p14:sldId id="321"/>
            <p14:sldId id="322"/>
            <p14:sldId id="296"/>
            <p14:sldId id="324"/>
            <p14:sldId id="325"/>
            <p14:sldId id="326"/>
            <p14:sldId id="327"/>
            <p14:sldId id="323"/>
            <p14:sldId id="328"/>
            <p14:sldId id="297"/>
            <p14:sldId id="329"/>
            <p14:sldId id="330"/>
            <p14:sldId id="331"/>
            <p14:sldId id="332"/>
            <p14:sldId id="298"/>
            <p14:sldId id="333"/>
            <p14:sldId id="334"/>
            <p14:sldId id="335"/>
            <p14:sldId id="299"/>
            <p14:sldId id="337"/>
            <p14:sldId id="338"/>
            <p14:sldId id="339"/>
            <p14:sldId id="343"/>
            <p14:sldId id="340"/>
            <p14:sldId id="341"/>
            <p14:sldId id="300"/>
            <p14:sldId id="344"/>
            <p14:sldId id="345"/>
            <p14:sldId id="346"/>
            <p14:sldId id="347"/>
            <p14:sldId id="348"/>
            <p14:sldId id="351"/>
            <p14:sldId id="301"/>
            <p14:sldId id="349"/>
            <p14:sldId id="292"/>
            <p14:sldId id="35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FF1"/>
    <a:srgbClr val="E6007E"/>
    <a:srgbClr val="8C0078"/>
    <a:srgbClr val="04572F"/>
    <a:srgbClr val="A6ADB5"/>
    <a:srgbClr val="8191A5"/>
    <a:srgbClr val="C0C8D2"/>
    <a:srgbClr val="525A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5F3EE-7A5C-468F-90BC-48668B1DF2B4}" v="71" dt="2026-08-06T17:54:18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6247" autoAdjust="0"/>
  </p:normalViewPr>
  <p:slideViewPr>
    <p:cSldViewPr snapToGrid="0">
      <p:cViewPr>
        <p:scale>
          <a:sx n="125" d="100"/>
          <a:sy n="125" d="100"/>
        </p:scale>
        <p:origin x="924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ussef HASNAOUI" userId="76f70556-763f-43b0-b392-e7a7cb8458b2" providerId="ADAL" clId="{72E4ABFE-02FC-496C-B502-DA9F7F929553}"/>
    <pc:docChg chg="undo custSel addSld modSld modSection">
      <pc:chgData name="Youssef HASNAOUI" userId="76f70556-763f-43b0-b392-e7a7cb8458b2" providerId="ADAL" clId="{72E4ABFE-02FC-496C-B502-DA9F7F929553}" dt="2026-08-06T17:54:18.980" v="174" actId="20577"/>
      <pc:docMkLst>
        <pc:docMk/>
      </pc:docMkLst>
      <pc:sldChg chg="addSp delSp modSp mod modAnim">
        <pc:chgData name="Youssef HASNAOUI" userId="76f70556-763f-43b0-b392-e7a7cb8458b2" providerId="ADAL" clId="{72E4ABFE-02FC-496C-B502-DA9F7F929553}" dt="2026-08-06T17:44:16.271" v="152"/>
        <pc:sldMkLst>
          <pc:docMk/>
          <pc:sldMk cId="941287029" sldId="289"/>
        </pc:sldMkLst>
        <pc:spChg chg="mod">
          <ac:chgData name="Youssef HASNAOUI" userId="76f70556-763f-43b0-b392-e7a7cb8458b2" providerId="ADAL" clId="{72E4ABFE-02FC-496C-B502-DA9F7F929553}" dt="2026-08-06T17:43:47.788" v="149" actId="11530"/>
          <ac:spMkLst>
            <pc:docMk/>
            <pc:sldMk cId="941287029" sldId="289"/>
            <ac:spMk id="27" creationId="{705A40C6-5C3F-BE24-6B7C-79C21AB90A76}"/>
          </ac:spMkLst>
        </pc:spChg>
        <pc:spChg chg="add del">
          <ac:chgData name="Youssef HASNAOUI" userId="76f70556-763f-43b0-b392-e7a7cb8458b2" providerId="ADAL" clId="{72E4ABFE-02FC-496C-B502-DA9F7F929553}" dt="2026-08-06T17:43:35.488" v="148" actId="11529"/>
          <ac:spMkLst>
            <pc:docMk/>
            <pc:sldMk cId="941287029" sldId="289"/>
            <ac:spMk id="30" creationId="{CB796B04-3FA5-F47B-5082-FA74B23CF63E}"/>
          </ac:spMkLst>
        </pc:spChg>
      </pc:sldChg>
      <pc:sldChg chg="modTransition modAnim">
        <pc:chgData name="Youssef HASNAOUI" userId="76f70556-763f-43b0-b392-e7a7cb8458b2" providerId="ADAL" clId="{72E4ABFE-02FC-496C-B502-DA9F7F929553}" dt="2026-08-06T16:59:38.215" v="54"/>
        <pc:sldMkLst>
          <pc:docMk/>
          <pc:sldMk cId="1975237743" sldId="292"/>
        </pc:sldMkLst>
      </pc:sldChg>
      <pc:sldChg chg="modSp mod">
        <pc:chgData name="Youssef HASNAOUI" userId="76f70556-763f-43b0-b392-e7a7cb8458b2" providerId="ADAL" clId="{72E4ABFE-02FC-496C-B502-DA9F7F929553}" dt="2026-08-06T17:41:08.482" v="146" actId="20577"/>
        <pc:sldMkLst>
          <pc:docMk/>
          <pc:sldMk cId="1571269310" sldId="293"/>
        </pc:sldMkLst>
        <pc:spChg chg="mod">
          <ac:chgData name="Youssef HASNAOUI" userId="76f70556-763f-43b0-b392-e7a7cb8458b2" providerId="ADAL" clId="{72E4ABFE-02FC-496C-B502-DA9F7F929553}" dt="2026-08-06T17:41:08.482" v="146" actId="20577"/>
          <ac:spMkLst>
            <pc:docMk/>
            <pc:sldMk cId="1571269310" sldId="293"/>
            <ac:spMk id="2" creationId="{47417605-F4B6-F29D-78AB-0360B6640E44}"/>
          </ac:spMkLst>
        </pc:spChg>
      </pc:sldChg>
      <pc:sldChg chg="modTransition">
        <pc:chgData name="Youssef HASNAOUI" userId="76f70556-763f-43b0-b392-e7a7cb8458b2" providerId="ADAL" clId="{72E4ABFE-02FC-496C-B502-DA9F7F929553}" dt="2026-08-06T16:56:34.013" v="22"/>
        <pc:sldMkLst>
          <pc:docMk/>
          <pc:sldMk cId="2049164592" sldId="300"/>
        </pc:sldMkLst>
      </pc:sldChg>
      <pc:sldChg chg="modTransition">
        <pc:chgData name="Youssef HASNAOUI" userId="76f70556-763f-43b0-b392-e7a7cb8458b2" providerId="ADAL" clId="{72E4ABFE-02FC-496C-B502-DA9F7F929553}" dt="2026-08-06T16:59:10.491" v="47"/>
        <pc:sldMkLst>
          <pc:docMk/>
          <pc:sldMk cId="1921681837" sldId="301"/>
        </pc:sldMkLst>
      </pc:sldChg>
      <pc:sldChg chg="modAnim">
        <pc:chgData name="Youssef HASNAOUI" userId="76f70556-763f-43b0-b392-e7a7cb8458b2" providerId="ADAL" clId="{72E4ABFE-02FC-496C-B502-DA9F7F929553}" dt="2026-08-06T17:47:42.531" v="161"/>
        <pc:sldMkLst>
          <pc:docMk/>
          <pc:sldMk cId="622304796" sldId="313"/>
        </pc:sldMkLst>
      </pc:sldChg>
      <pc:sldChg chg="modSp">
        <pc:chgData name="Youssef HASNAOUI" userId="76f70556-763f-43b0-b392-e7a7cb8458b2" providerId="ADAL" clId="{72E4ABFE-02FC-496C-B502-DA9F7F929553}" dt="2026-08-06T17:51:45.605" v="164" actId="20577"/>
        <pc:sldMkLst>
          <pc:docMk/>
          <pc:sldMk cId="2469639567" sldId="320"/>
        </pc:sldMkLst>
        <pc:spChg chg="mod">
          <ac:chgData name="Youssef HASNAOUI" userId="76f70556-763f-43b0-b392-e7a7cb8458b2" providerId="ADAL" clId="{72E4ABFE-02FC-496C-B502-DA9F7F929553}" dt="2026-08-06T17:51:45.605" v="164" actId="20577"/>
          <ac:spMkLst>
            <pc:docMk/>
            <pc:sldMk cId="2469639567" sldId="320"/>
            <ac:spMk id="13" creationId="{67ED3856-D3B2-D0E3-3F3B-2ED83D6C0C56}"/>
          </ac:spMkLst>
        </pc:spChg>
      </pc:sldChg>
      <pc:sldChg chg="modSp">
        <pc:chgData name="Youssef HASNAOUI" userId="76f70556-763f-43b0-b392-e7a7cb8458b2" providerId="ADAL" clId="{72E4ABFE-02FC-496C-B502-DA9F7F929553}" dt="2026-08-06T17:54:18.980" v="174" actId="20577"/>
        <pc:sldMkLst>
          <pc:docMk/>
          <pc:sldMk cId="2010790868" sldId="324"/>
        </pc:sldMkLst>
        <pc:spChg chg="mod">
          <ac:chgData name="Youssef HASNAOUI" userId="76f70556-763f-43b0-b392-e7a7cb8458b2" providerId="ADAL" clId="{72E4ABFE-02FC-496C-B502-DA9F7F929553}" dt="2026-08-06T17:54:18.980" v="174" actId="20577"/>
          <ac:spMkLst>
            <pc:docMk/>
            <pc:sldMk cId="2010790868" sldId="324"/>
            <ac:spMk id="17" creationId="{5E7E607C-8239-2CE8-D452-5F6DAE1B4BE5}"/>
          </ac:spMkLst>
        </pc:spChg>
      </pc:sldChg>
      <pc:sldChg chg="modTransition modAnim">
        <pc:chgData name="Youssef HASNAOUI" userId="76f70556-763f-43b0-b392-e7a7cb8458b2" providerId="ADAL" clId="{72E4ABFE-02FC-496C-B502-DA9F7F929553}" dt="2026-08-06T16:54:19.433" v="3"/>
        <pc:sldMkLst>
          <pc:docMk/>
          <pc:sldMk cId="3112587788" sldId="337"/>
        </pc:sldMkLst>
      </pc:sldChg>
      <pc:sldChg chg="modAnim">
        <pc:chgData name="Youssef HASNAOUI" userId="76f70556-763f-43b0-b392-e7a7cb8458b2" providerId="ADAL" clId="{72E4ABFE-02FC-496C-B502-DA9F7F929553}" dt="2026-08-06T16:54:40.790" v="6"/>
        <pc:sldMkLst>
          <pc:docMk/>
          <pc:sldMk cId="1679326005" sldId="338"/>
        </pc:sldMkLst>
      </pc:sldChg>
      <pc:sldChg chg="modAnim">
        <pc:chgData name="Youssef HASNAOUI" userId="76f70556-763f-43b0-b392-e7a7cb8458b2" providerId="ADAL" clId="{72E4ABFE-02FC-496C-B502-DA9F7F929553}" dt="2026-08-06T16:54:50.432" v="8"/>
        <pc:sldMkLst>
          <pc:docMk/>
          <pc:sldMk cId="3989745260" sldId="339"/>
        </pc:sldMkLst>
      </pc:sldChg>
      <pc:sldChg chg="modAnim">
        <pc:chgData name="Youssef HASNAOUI" userId="76f70556-763f-43b0-b392-e7a7cb8458b2" providerId="ADAL" clId="{72E4ABFE-02FC-496C-B502-DA9F7F929553}" dt="2026-08-06T16:56:29.480" v="21"/>
        <pc:sldMkLst>
          <pc:docMk/>
          <pc:sldMk cId="1042679277" sldId="340"/>
        </pc:sldMkLst>
      </pc:sldChg>
      <pc:sldChg chg="delSp mod modAnim">
        <pc:chgData name="Youssef HASNAOUI" userId="76f70556-763f-43b0-b392-e7a7cb8458b2" providerId="ADAL" clId="{72E4ABFE-02FC-496C-B502-DA9F7F929553}" dt="2026-08-06T16:55:38.758" v="15" actId="478"/>
        <pc:sldMkLst>
          <pc:docMk/>
          <pc:sldMk cId="3834740182" sldId="343"/>
        </pc:sldMkLst>
        <pc:spChg chg="del">
          <ac:chgData name="Youssef HASNAOUI" userId="76f70556-763f-43b0-b392-e7a7cb8458b2" providerId="ADAL" clId="{72E4ABFE-02FC-496C-B502-DA9F7F929553}" dt="2026-08-06T16:55:38.065" v="14" actId="478"/>
          <ac:spMkLst>
            <pc:docMk/>
            <pc:sldMk cId="3834740182" sldId="343"/>
            <ac:spMk id="32" creationId="{4E6A0E04-484F-F3EB-B2EE-EAA833951C70}"/>
          </ac:spMkLst>
        </pc:spChg>
        <pc:spChg chg="del">
          <ac:chgData name="Youssef HASNAOUI" userId="76f70556-763f-43b0-b392-e7a7cb8458b2" providerId="ADAL" clId="{72E4ABFE-02FC-496C-B502-DA9F7F929553}" dt="2026-08-06T16:55:38.758" v="15" actId="478"/>
          <ac:spMkLst>
            <pc:docMk/>
            <pc:sldMk cId="3834740182" sldId="343"/>
            <ac:spMk id="33" creationId="{AF4F9C1D-E8F3-B9D0-7D77-6D63CBE7F05E}"/>
          </ac:spMkLst>
        </pc:spChg>
      </pc:sldChg>
      <pc:sldChg chg="modTransition modAnim">
        <pc:chgData name="Youssef HASNAOUI" userId="76f70556-763f-43b0-b392-e7a7cb8458b2" providerId="ADAL" clId="{72E4ABFE-02FC-496C-B502-DA9F7F929553}" dt="2026-08-06T16:57:02.990" v="27"/>
        <pc:sldMkLst>
          <pc:docMk/>
          <pc:sldMk cId="4232376706" sldId="344"/>
        </pc:sldMkLst>
      </pc:sldChg>
      <pc:sldChg chg="modTransition modAnim">
        <pc:chgData name="Youssef HASNAOUI" userId="76f70556-763f-43b0-b392-e7a7cb8458b2" providerId="ADAL" clId="{72E4ABFE-02FC-496C-B502-DA9F7F929553}" dt="2026-08-06T16:57:46.955" v="30"/>
        <pc:sldMkLst>
          <pc:docMk/>
          <pc:sldMk cId="3357295662" sldId="345"/>
        </pc:sldMkLst>
      </pc:sldChg>
      <pc:sldChg chg="modTransition">
        <pc:chgData name="Youssef HASNAOUI" userId="76f70556-763f-43b0-b392-e7a7cb8458b2" providerId="ADAL" clId="{72E4ABFE-02FC-496C-B502-DA9F7F929553}" dt="2026-08-06T16:57:49.274" v="31"/>
        <pc:sldMkLst>
          <pc:docMk/>
          <pc:sldMk cId="634849043" sldId="346"/>
        </pc:sldMkLst>
      </pc:sldChg>
      <pc:sldChg chg="modTransition modAnim">
        <pc:chgData name="Youssef HASNAOUI" userId="76f70556-763f-43b0-b392-e7a7cb8458b2" providerId="ADAL" clId="{72E4ABFE-02FC-496C-B502-DA9F7F929553}" dt="2026-08-06T16:57:56.538" v="33"/>
        <pc:sldMkLst>
          <pc:docMk/>
          <pc:sldMk cId="948306840" sldId="347"/>
        </pc:sldMkLst>
      </pc:sldChg>
      <pc:sldChg chg="addSp delSp modSp mod modTransition modAnim">
        <pc:chgData name="Youssef HASNAOUI" userId="76f70556-763f-43b0-b392-e7a7cb8458b2" providerId="ADAL" clId="{72E4ABFE-02FC-496C-B502-DA9F7F929553}" dt="2026-08-06T16:59:02.890" v="46"/>
        <pc:sldMkLst>
          <pc:docMk/>
          <pc:sldMk cId="4242369651" sldId="348"/>
        </pc:sldMkLst>
        <pc:spChg chg="add mod">
          <ac:chgData name="Youssef HASNAOUI" userId="76f70556-763f-43b0-b392-e7a7cb8458b2" providerId="ADAL" clId="{72E4ABFE-02FC-496C-B502-DA9F7F929553}" dt="2026-08-06T16:58:28.400" v="39" actId="14100"/>
          <ac:spMkLst>
            <pc:docMk/>
            <pc:sldMk cId="4242369651" sldId="348"/>
            <ac:spMk id="8" creationId="{ECFFCB2A-0432-A400-9A8F-F86241756CD0}"/>
          </ac:spMkLst>
        </pc:spChg>
        <pc:cxnChg chg="add del">
          <ac:chgData name="Youssef HASNAOUI" userId="76f70556-763f-43b0-b392-e7a7cb8458b2" providerId="ADAL" clId="{72E4ABFE-02FC-496C-B502-DA9F7F929553}" dt="2026-08-06T16:58:37.789" v="41" actId="11529"/>
          <ac:cxnSpMkLst>
            <pc:docMk/>
            <pc:sldMk cId="4242369651" sldId="348"/>
            <ac:cxnSpMk id="10" creationId="{0F88FE86-7582-040F-D59C-B20AE756A48C}"/>
          </ac:cxnSpMkLst>
        </pc:cxnChg>
        <pc:cxnChg chg="add mod">
          <ac:chgData name="Youssef HASNAOUI" userId="76f70556-763f-43b0-b392-e7a7cb8458b2" providerId="ADAL" clId="{72E4ABFE-02FC-496C-B502-DA9F7F929553}" dt="2026-08-06T16:58:50.402" v="44" actId="1582"/>
          <ac:cxnSpMkLst>
            <pc:docMk/>
            <pc:sldMk cId="4242369651" sldId="348"/>
            <ac:cxnSpMk id="12" creationId="{AC3D0FD1-EB1A-CF34-1F90-BCEDA0680100}"/>
          </ac:cxnSpMkLst>
        </pc:cxnChg>
      </pc:sldChg>
      <pc:sldChg chg="modTransition modAnim">
        <pc:chgData name="Youssef HASNAOUI" userId="76f70556-763f-43b0-b392-e7a7cb8458b2" providerId="ADAL" clId="{72E4ABFE-02FC-496C-B502-DA9F7F929553}" dt="2026-08-06T16:59:26.661" v="52"/>
        <pc:sldMkLst>
          <pc:docMk/>
          <pc:sldMk cId="3311502579" sldId="349"/>
        </pc:sldMkLst>
      </pc:sldChg>
      <pc:sldChg chg="addSp modSp new mod modTransition modAnim">
        <pc:chgData name="Youssef HASNAOUI" userId="76f70556-763f-43b0-b392-e7a7cb8458b2" providerId="ADAL" clId="{72E4ABFE-02FC-496C-B502-DA9F7F929553}" dt="2026-08-06T17:40:22.236" v="109"/>
        <pc:sldMkLst>
          <pc:docMk/>
          <pc:sldMk cId="3658853817" sldId="351"/>
        </pc:sldMkLst>
        <pc:spChg chg="mod">
          <ac:chgData name="Youssef HASNAOUI" userId="76f70556-763f-43b0-b392-e7a7cb8458b2" providerId="ADAL" clId="{72E4ABFE-02FC-496C-B502-DA9F7F929553}" dt="2026-08-06T17:39:31.065" v="104" actId="20577"/>
          <ac:spMkLst>
            <pc:docMk/>
            <pc:sldMk cId="3658853817" sldId="351"/>
            <ac:spMk id="2" creationId="{524690DE-EA59-0755-6CA5-4980185A4009}"/>
          </ac:spMkLst>
        </pc:spChg>
        <pc:picChg chg="add mod">
          <ac:chgData name="Youssef HASNAOUI" userId="76f70556-763f-43b0-b392-e7a7cb8458b2" providerId="ADAL" clId="{72E4ABFE-02FC-496C-B502-DA9F7F929553}" dt="2026-08-06T17:39:43.447" v="107" actId="1076"/>
          <ac:picMkLst>
            <pc:docMk/>
            <pc:sldMk cId="3658853817" sldId="351"/>
            <ac:picMk id="5" creationId="{13DA4AE2-8427-D76F-2456-A435D7C0FEFB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CD139F-5C0E-4D05-9F3A-A48CBC9AF03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DB2445D-5B74-4FA7-B368-5FE745BF8E64}">
      <dgm:prSet/>
      <dgm:spPr/>
      <dgm:t>
        <a:bodyPr/>
        <a:lstStyle/>
        <a:p>
          <a:r>
            <a:rPr lang="en-US" dirty="0"/>
            <a:t>Performance Analysis</a:t>
          </a:r>
        </a:p>
      </dgm:t>
    </dgm:pt>
    <dgm:pt modelId="{2BA230AC-F9DA-4414-99BE-814E9954E36B}" type="parTrans" cxnId="{A1B2BE8C-BAB4-42BF-93C5-4693A4E4F67F}">
      <dgm:prSet/>
      <dgm:spPr/>
      <dgm:t>
        <a:bodyPr/>
        <a:lstStyle/>
        <a:p>
          <a:endParaRPr lang="en-US"/>
        </a:p>
      </dgm:t>
    </dgm:pt>
    <dgm:pt modelId="{1A17AB8C-8C56-4824-A776-4424E6729E5B}" type="sibTrans" cxnId="{A1B2BE8C-BAB4-42BF-93C5-4693A4E4F67F}">
      <dgm:prSet/>
      <dgm:spPr/>
      <dgm:t>
        <a:bodyPr/>
        <a:lstStyle/>
        <a:p>
          <a:endParaRPr lang="en-US"/>
        </a:p>
      </dgm:t>
    </dgm:pt>
    <dgm:pt modelId="{EACA05B3-5C09-4D84-99A6-29D0055ADCEB}">
      <dgm:prSet/>
      <dgm:spPr/>
      <dgm:t>
        <a:bodyPr/>
        <a:lstStyle/>
        <a:p>
          <a:r>
            <a:rPr lang="en-US" dirty="0"/>
            <a:t>Measure the performance of your application and identify bottlenecks</a:t>
          </a:r>
        </a:p>
      </dgm:t>
    </dgm:pt>
    <dgm:pt modelId="{24AEADAC-5704-436F-AC24-6920610EDB46}" type="parTrans" cxnId="{06C925FF-0962-4028-B15D-FDE13FA41F09}">
      <dgm:prSet/>
      <dgm:spPr/>
      <dgm:t>
        <a:bodyPr/>
        <a:lstStyle/>
        <a:p>
          <a:endParaRPr lang="en-US"/>
        </a:p>
      </dgm:t>
    </dgm:pt>
    <dgm:pt modelId="{D6784AA6-C965-4EC1-89FB-4B4B0C1B8E13}" type="sibTrans" cxnId="{06C925FF-0962-4028-B15D-FDE13FA41F09}">
      <dgm:prSet/>
      <dgm:spPr/>
      <dgm:t>
        <a:bodyPr/>
        <a:lstStyle/>
        <a:p>
          <a:endParaRPr lang="en-US"/>
        </a:p>
      </dgm:t>
    </dgm:pt>
    <dgm:pt modelId="{1CFD4624-EEE2-4183-8F0D-BD63F856C09F}">
      <dgm:prSet/>
      <dgm:spPr/>
      <dgm:t>
        <a:bodyPr/>
        <a:lstStyle/>
        <a:p>
          <a:r>
            <a:rPr lang="en-US" dirty="0"/>
            <a:t>Code coverage</a:t>
          </a:r>
        </a:p>
      </dgm:t>
    </dgm:pt>
    <dgm:pt modelId="{DC0117CA-8196-4E09-AA46-003EB7E33095}" type="parTrans" cxnId="{41D89A61-9DE3-4DE9-8B57-201AC2C5E782}">
      <dgm:prSet/>
      <dgm:spPr/>
      <dgm:t>
        <a:bodyPr/>
        <a:lstStyle/>
        <a:p>
          <a:endParaRPr lang="en-US"/>
        </a:p>
      </dgm:t>
    </dgm:pt>
    <dgm:pt modelId="{94C94FD0-0F91-4EDE-A2BF-C6B258441F9C}" type="sibTrans" cxnId="{41D89A61-9DE3-4DE9-8B57-201AC2C5E782}">
      <dgm:prSet/>
      <dgm:spPr/>
      <dgm:t>
        <a:bodyPr/>
        <a:lstStyle/>
        <a:p>
          <a:endParaRPr lang="en-US"/>
        </a:p>
      </dgm:t>
    </dgm:pt>
    <dgm:pt modelId="{A98831F9-1360-4388-8413-AAF76149B6A0}">
      <dgm:prSet/>
      <dgm:spPr/>
      <dgm:t>
        <a:bodyPr/>
        <a:lstStyle/>
        <a:p>
          <a:r>
            <a:rPr lang="en-US" dirty="0"/>
            <a:t>Debugging through crashes</a:t>
          </a:r>
        </a:p>
      </dgm:t>
    </dgm:pt>
    <dgm:pt modelId="{40915F7F-0AFF-4D71-89F8-D582F9685FEA}" type="parTrans" cxnId="{DC2D4D2E-00A2-45C4-AC0D-8D4F94930D6F}">
      <dgm:prSet/>
      <dgm:spPr/>
      <dgm:t>
        <a:bodyPr/>
        <a:lstStyle/>
        <a:p>
          <a:endParaRPr lang="en-US"/>
        </a:p>
      </dgm:t>
    </dgm:pt>
    <dgm:pt modelId="{07611BAD-5E98-4E7E-A176-4C42CEF936AC}" type="sibTrans" cxnId="{DC2D4D2E-00A2-45C4-AC0D-8D4F94930D6F}">
      <dgm:prSet/>
      <dgm:spPr/>
      <dgm:t>
        <a:bodyPr/>
        <a:lstStyle/>
        <a:p>
          <a:endParaRPr lang="en-US"/>
        </a:p>
      </dgm:t>
    </dgm:pt>
    <dgm:pt modelId="{43296390-CE4F-49B1-80D5-2F3534BFE458}">
      <dgm:prSet/>
      <dgm:spPr/>
      <dgm:t>
        <a:bodyPr/>
        <a:lstStyle/>
        <a:p>
          <a:r>
            <a:rPr lang="en-US" dirty="0"/>
            <a:t>It allows us to narrow down the execution path during a failure</a:t>
          </a:r>
        </a:p>
      </dgm:t>
    </dgm:pt>
    <dgm:pt modelId="{BB092B39-794A-48F4-AE66-D09F3C15B269}" type="parTrans" cxnId="{ED067FB1-A733-4E9F-90D4-A8815F5ACCC4}">
      <dgm:prSet/>
      <dgm:spPr/>
      <dgm:t>
        <a:bodyPr/>
        <a:lstStyle/>
        <a:p>
          <a:endParaRPr lang="en-US"/>
        </a:p>
      </dgm:t>
    </dgm:pt>
    <dgm:pt modelId="{4A749B1C-C5F7-4CAD-98FC-FE5196985EAD}" type="sibTrans" cxnId="{ED067FB1-A733-4E9F-90D4-A8815F5ACCC4}">
      <dgm:prSet/>
      <dgm:spPr/>
      <dgm:t>
        <a:bodyPr/>
        <a:lstStyle/>
        <a:p>
          <a:endParaRPr lang="en-US"/>
        </a:p>
      </dgm:t>
    </dgm:pt>
    <dgm:pt modelId="{E857CBAD-623E-4587-A5AD-4D876574B816}">
      <dgm:prSet/>
      <dgm:spPr/>
      <dgm:t>
        <a:bodyPr/>
        <a:lstStyle/>
        <a:p>
          <a:r>
            <a:rPr lang="en-US"/>
            <a:t>Check what code is executing and what isn’t</a:t>
          </a:r>
          <a:endParaRPr lang="en-US" dirty="0"/>
        </a:p>
      </dgm:t>
    </dgm:pt>
    <dgm:pt modelId="{3B7C30E7-6FDD-4027-A8E9-4747CDBA23C0}" type="parTrans" cxnId="{15A980E5-9730-4D97-A9E9-3A18A58808D4}">
      <dgm:prSet/>
      <dgm:spPr/>
      <dgm:t>
        <a:bodyPr/>
        <a:lstStyle/>
        <a:p>
          <a:endParaRPr lang="en-US"/>
        </a:p>
      </dgm:t>
    </dgm:pt>
    <dgm:pt modelId="{6E35F774-2D4C-4F9C-BD1D-6F148D3603CD}" type="sibTrans" cxnId="{15A980E5-9730-4D97-A9E9-3A18A58808D4}">
      <dgm:prSet/>
      <dgm:spPr/>
      <dgm:t>
        <a:bodyPr/>
        <a:lstStyle/>
        <a:p>
          <a:endParaRPr lang="en-US"/>
        </a:p>
      </dgm:t>
    </dgm:pt>
    <dgm:pt modelId="{3EA22D15-7D3D-4D84-BFC4-64BEEC26FDC6}" type="pres">
      <dgm:prSet presAssocID="{1FCD139F-5C0E-4D05-9F3A-A48CBC9AF03D}" presName="Name0" presStyleCnt="0">
        <dgm:presLayoutVars>
          <dgm:dir/>
          <dgm:animLvl val="lvl"/>
          <dgm:resizeHandles val="exact"/>
        </dgm:presLayoutVars>
      </dgm:prSet>
      <dgm:spPr/>
    </dgm:pt>
    <dgm:pt modelId="{DB46985F-B895-47BB-9318-5DC728C69732}" type="pres">
      <dgm:prSet presAssocID="{A98831F9-1360-4388-8413-AAF76149B6A0}" presName="linNode" presStyleCnt="0"/>
      <dgm:spPr/>
    </dgm:pt>
    <dgm:pt modelId="{321F2014-629A-41FC-AD89-64384474DC4C}" type="pres">
      <dgm:prSet presAssocID="{A98831F9-1360-4388-8413-AAF76149B6A0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C41C232-44AD-4F72-9F44-E216CF665D38}" type="pres">
      <dgm:prSet presAssocID="{A98831F9-1360-4388-8413-AAF76149B6A0}" presName="descendantText" presStyleLbl="alignAccFollowNode1" presStyleIdx="0" presStyleCnt="3">
        <dgm:presLayoutVars>
          <dgm:bulletEnabled val="1"/>
        </dgm:presLayoutVars>
      </dgm:prSet>
      <dgm:spPr/>
    </dgm:pt>
    <dgm:pt modelId="{C0D78533-7D35-4146-BC2D-3BC558BA0890}" type="pres">
      <dgm:prSet presAssocID="{07611BAD-5E98-4E7E-A176-4C42CEF936AC}" presName="sp" presStyleCnt="0"/>
      <dgm:spPr/>
    </dgm:pt>
    <dgm:pt modelId="{404A50C5-A671-47DA-9F47-0C2B9316BBEC}" type="pres">
      <dgm:prSet presAssocID="{1CFD4624-EEE2-4183-8F0D-BD63F856C09F}" presName="linNode" presStyleCnt="0"/>
      <dgm:spPr/>
    </dgm:pt>
    <dgm:pt modelId="{14CA2774-2FF9-49C4-B2EA-4479E28BCD1F}" type="pres">
      <dgm:prSet presAssocID="{1CFD4624-EEE2-4183-8F0D-BD63F856C09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6F847FA5-1DC2-4F8D-8486-12A0DAACC181}" type="pres">
      <dgm:prSet presAssocID="{1CFD4624-EEE2-4183-8F0D-BD63F856C09F}" presName="descendantText" presStyleLbl="alignAccFollowNode1" presStyleIdx="1" presStyleCnt="3">
        <dgm:presLayoutVars>
          <dgm:bulletEnabled val="1"/>
        </dgm:presLayoutVars>
      </dgm:prSet>
      <dgm:spPr/>
    </dgm:pt>
    <dgm:pt modelId="{A8C1A3C2-6689-47FE-BCA7-3F2F78D41BD9}" type="pres">
      <dgm:prSet presAssocID="{94C94FD0-0F91-4EDE-A2BF-C6B258441F9C}" presName="sp" presStyleCnt="0"/>
      <dgm:spPr/>
    </dgm:pt>
    <dgm:pt modelId="{180E9D09-8836-4D4E-97B1-1E5E2D08B96E}" type="pres">
      <dgm:prSet presAssocID="{9DB2445D-5B74-4FA7-B368-5FE745BF8E64}" presName="linNode" presStyleCnt="0"/>
      <dgm:spPr/>
    </dgm:pt>
    <dgm:pt modelId="{580874EB-A328-4037-835C-7D195E2EEF40}" type="pres">
      <dgm:prSet presAssocID="{9DB2445D-5B74-4FA7-B368-5FE745BF8E64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C2562D3B-4FE2-4CA4-B209-261F78F8474C}" type="pres">
      <dgm:prSet presAssocID="{9DB2445D-5B74-4FA7-B368-5FE745BF8E64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00006F18-ECE7-4B66-8E64-BFCEC82501D1}" type="presOf" srcId="{A98831F9-1360-4388-8413-AAF76149B6A0}" destId="{321F2014-629A-41FC-AD89-64384474DC4C}" srcOrd="0" destOrd="0" presId="urn:microsoft.com/office/officeart/2005/8/layout/vList5"/>
    <dgm:cxn modelId="{72003A2D-E913-418F-9AA7-29C92C496CA0}" type="presOf" srcId="{EACA05B3-5C09-4D84-99A6-29D0055ADCEB}" destId="{C2562D3B-4FE2-4CA4-B209-261F78F8474C}" srcOrd="0" destOrd="0" presId="urn:microsoft.com/office/officeart/2005/8/layout/vList5"/>
    <dgm:cxn modelId="{DC2D4D2E-00A2-45C4-AC0D-8D4F94930D6F}" srcId="{1FCD139F-5C0E-4D05-9F3A-A48CBC9AF03D}" destId="{A98831F9-1360-4388-8413-AAF76149B6A0}" srcOrd="0" destOrd="0" parTransId="{40915F7F-0AFF-4D71-89F8-D582F9685FEA}" sibTransId="{07611BAD-5E98-4E7E-A176-4C42CEF936AC}"/>
    <dgm:cxn modelId="{41D89A61-9DE3-4DE9-8B57-201AC2C5E782}" srcId="{1FCD139F-5C0E-4D05-9F3A-A48CBC9AF03D}" destId="{1CFD4624-EEE2-4183-8F0D-BD63F856C09F}" srcOrd="1" destOrd="0" parTransId="{DC0117CA-8196-4E09-AA46-003EB7E33095}" sibTransId="{94C94FD0-0F91-4EDE-A2BF-C6B258441F9C}"/>
    <dgm:cxn modelId="{A1B2BE8C-BAB4-42BF-93C5-4693A4E4F67F}" srcId="{1FCD139F-5C0E-4D05-9F3A-A48CBC9AF03D}" destId="{9DB2445D-5B74-4FA7-B368-5FE745BF8E64}" srcOrd="2" destOrd="0" parTransId="{2BA230AC-F9DA-4414-99BE-814E9954E36B}" sibTransId="{1A17AB8C-8C56-4824-A776-4424E6729E5B}"/>
    <dgm:cxn modelId="{5676D38C-4692-444F-84A3-9A374E771E4D}" type="presOf" srcId="{1CFD4624-EEE2-4183-8F0D-BD63F856C09F}" destId="{14CA2774-2FF9-49C4-B2EA-4479E28BCD1F}" srcOrd="0" destOrd="0" presId="urn:microsoft.com/office/officeart/2005/8/layout/vList5"/>
    <dgm:cxn modelId="{59D3DBA5-8598-4248-965F-10CF783AB3F9}" type="presOf" srcId="{1FCD139F-5C0E-4D05-9F3A-A48CBC9AF03D}" destId="{3EA22D15-7D3D-4D84-BFC4-64BEEC26FDC6}" srcOrd="0" destOrd="0" presId="urn:microsoft.com/office/officeart/2005/8/layout/vList5"/>
    <dgm:cxn modelId="{ED067FB1-A733-4E9F-90D4-A8815F5ACCC4}" srcId="{A98831F9-1360-4388-8413-AAF76149B6A0}" destId="{43296390-CE4F-49B1-80D5-2F3534BFE458}" srcOrd="0" destOrd="0" parTransId="{BB092B39-794A-48F4-AE66-D09F3C15B269}" sibTransId="{4A749B1C-C5F7-4CAD-98FC-FE5196985EAD}"/>
    <dgm:cxn modelId="{AFF546B2-F5DF-454D-AAE0-DDE25C091061}" type="presOf" srcId="{9DB2445D-5B74-4FA7-B368-5FE745BF8E64}" destId="{580874EB-A328-4037-835C-7D195E2EEF40}" srcOrd="0" destOrd="0" presId="urn:microsoft.com/office/officeart/2005/8/layout/vList5"/>
    <dgm:cxn modelId="{4CB585BD-B4A5-47F0-A839-4110B9ADB7D0}" type="presOf" srcId="{43296390-CE4F-49B1-80D5-2F3534BFE458}" destId="{7C41C232-44AD-4F72-9F44-E216CF665D38}" srcOrd="0" destOrd="0" presId="urn:microsoft.com/office/officeart/2005/8/layout/vList5"/>
    <dgm:cxn modelId="{9E52D2E0-09E1-499A-A0AA-805407A0C503}" type="presOf" srcId="{E857CBAD-623E-4587-A5AD-4D876574B816}" destId="{6F847FA5-1DC2-4F8D-8486-12A0DAACC181}" srcOrd="0" destOrd="0" presId="urn:microsoft.com/office/officeart/2005/8/layout/vList5"/>
    <dgm:cxn modelId="{15A980E5-9730-4D97-A9E9-3A18A58808D4}" srcId="{1CFD4624-EEE2-4183-8F0D-BD63F856C09F}" destId="{E857CBAD-623E-4587-A5AD-4D876574B816}" srcOrd="0" destOrd="0" parTransId="{3B7C30E7-6FDD-4027-A8E9-4747CDBA23C0}" sibTransId="{6E35F774-2D4C-4F9C-BD1D-6F148D3603CD}"/>
    <dgm:cxn modelId="{06C925FF-0962-4028-B15D-FDE13FA41F09}" srcId="{9DB2445D-5B74-4FA7-B368-5FE745BF8E64}" destId="{EACA05B3-5C09-4D84-99A6-29D0055ADCEB}" srcOrd="0" destOrd="0" parTransId="{24AEADAC-5704-436F-AC24-6920610EDB46}" sibTransId="{D6784AA6-C965-4EC1-89FB-4B4B0C1B8E13}"/>
    <dgm:cxn modelId="{E879E12C-4012-4851-8569-EDB7DCFF38BD}" type="presParOf" srcId="{3EA22D15-7D3D-4D84-BFC4-64BEEC26FDC6}" destId="{DB46985F-B895-47BB-9318-5DC728C69732}" srcOrd="0" destOrd="0" presId="urn:microsoft.com/office/officeart/2005/8/layout/vList5"/>
    <dgm:cxn modelId="{FDF703D4-A29A-4FAD-8F7C-3D21C5634DD7}" type="presParOf" srcId="{DB46985F-B895-47BB-9318-5DC728C69732}" destId="{321F2014-629A-41FC-AD89-64384474DC4C}" srcOrd="0" destOrd="0" presId="urn:microsoft.com/office/officeart/2005/8/layout/vList5"/>
    <dgm:cxn modelId="{760C6A9D-E773-40C7-B9B0-89D5175E8270}" type="presParOf" srcId="{DB46985F-B895-47BB-9318-5DC728C69732}" destId="{7C41C232-44AD-4F72-9F44-E216CF665D38}" srcOrd="1" destOrd="0" presId="urn:microsoft.com/office/officeart/2005/8/layout/vList5"/>
    <dgm:cxn modelId="{32B43867-F02A-4AB9-BFF4-80860F6D8388}" type="presParOf" srcId="{3EA22D15-7D3D-4D84-BFC4-64BEEC26FDC6}" destId="{C0D78533-7D35-4146-BC2D-3BC558BA0890}" srcOrd="1" destOrd="0" presId="urn:microsoft.com/office/officeart/2005/8/layout/vList5"/>
    <dgm:cxn modelId="{944A6258-BF9C-4176-B54B-8D29F9DB5671}" type="presParOf" srcId="{3EA22D15-7D3D-4D84-BFC4-64BEEC26FDC6}" destId="{404A50C5-A671-47DA-9F47-0C2B9316BBEC}" srcOrd="2" destOrd="0" presId="urn:microsoft.com/office/officeart/2005/8/layout/vList5"/>
    <dgm:cxn modelId="{F4DE3D56-EB5A-4438-8021-DE8D9DC78083}" type="presParOf" srcId="{404A50C5-A671-47DA-9F47-0C2B9316BBEC}" destId="{14CA2774-2FF9-49C4-B2EA-4479E28BCD1F}" srcOrd="0" destOrd="0" presId="urn:microsoft.com/office/officeart/2005/8/layout/vList5"/>
    <dgm:cxn modelId="{6B8ABDEC-0803-4142-A307-45D83D2ADB26}" type="presParOf" srcId="{404A50C5-A671-47DA-9F47-0C2B9316BBEC}" destId="{6F847FA5-1DC2-4F8D-8486-12A0DAACC181}" srcOrd="1" destOrd="0" presId="urn:microsoft.com/office/officeart/2005/8/layout/vList5"/>
    <dgm:cxn modelId="{1A992EF5-D595-447A-867E-7DA61AACD6EE}" type="presParOf" srcId="{3EA22D15-7D3D-4D84-BFC4-64BEEC26FDC6}" destId="{A8C1A3C2-6689-47FE-BCA7-3F2F78D41BD9}" srcOrd="3" destOrd="0" presId="urn:microsoft.com/office/officeart/2005/8/layout/vList5"/>
    <dgm:cxn modelId="{AF83DBBB-3932-4AB8-A48D-6C0A98C979C7}" type="presParOf" srcId="{3EA22D15-7D3D-4D84-BFC4-64BEEC26FDC6}" destId="{180E9D09-8836-4D4E-97B1-1E5E2D08B96E}" srcOrd="4" destOrd="0" presId="urn:microsoft.com/office/officeart/2005/8/layout/vList5"/>
    <dgm:cxn modelId="{3C9715AD-0F51-473D-9495-59CCC031800B}" type="presParOf" srcId="{180E9D09-8836-4D4E-97B1-1E5E2D08B96E}" destId="{580874EB-A328-4037-835C-7D195E2EEF40}" srcOrd="0" destOrd="0" presId="urn:microsoft.com/office/officeart/2005/8/layout/vList5"/>
    <dgm:cxn modelId="{B3F12D45-EDE5-4314-B460-91C5C0C5CC9D}" type="presParOf" srcId="{180E9D09-8836-4D4E-97B1-1E5E2D08B96E}" destId="{C2562D3B-4FE2-4CA4-B209-261F78F8474C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F95587-29FA-4216-8139-804CA4F18ABA}" type="doc">
      <dgm:prSet loTypeId="urn:microsoft.com/office/officeart/2005/8/layout/process1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D1AFC430-7045-4BD4-A5B1-32CF2D18E72A}">
      <dgm:prSet/>
      <dgm:spPr>
        <a:solidFill>
          <a:schemeClr val="tx1"/>
        </a:solidFill>
      </dgm:spPr>
      <dgm:t>
        <a:bodyPr/>
        <a:lstStyle/>
        <a:p>
          <a:r>
            <a:rPr lang="en-US"/>
            <a:t>Implement a Proof-of-Concept showcasing the ability to enable, configure and extract trace using an ST-Link</a:t>
          </a:r>
        </a:p>
      </dgm:t>
    </dgm:pt>
    <dgm:pt modelId="{9F6AA279-B550-4372-A11E-0FF4C09D94BA}" type="parTrans" cxnId="{97E58F52-C613-4EC4-B807-1C2F5B653B3A}">
      <dgm:prSet/>
      <dgm:spPr/>
      <dgm:t>
        <a:bodyPr/>
        <a:lstStyle/>
        <a:p>
          <a:endParaRPr lang="en-US"/>
        </a:p>
      </dgm:t>
    </dgm:pt>
    <dgm:pt modelId="{25AA770C-24AB-44BB-8A02-C6B7D1BF454C}" type="sibTrans" cxnId="{97E58F52-C613-4EC4-B807-1C2F5B653B3A}">
      <dgm:prSet/>
      <dgm:spPr/>
      <dgm:t>
        <a:bodyPr/>
        <a:lstStyle/>
        <a:p>
          <a:endParaRPr lang="en-US"/>
        </a:p>
      </dgm:t>
    </dgm:pt>
    <dgm:pt modelId="{6FCE6FC9-3A81-4586-86DA-6A8074F12DA7}">
      <dgm:prSet/>
      <dgm:spPr/>
      <dgm:t>
        <a:bodyPr/>
        <a:lstStyle/>
        <a:p>
          <a:r>
            <a:rPr lang="en-US"/>
            <a:t>Implement a debugger making use of the extracted trace data, offering trace processing capabilities during and outside of a debug session.</a:t>
          </a:r>
        </a:p>
      </dgm:t>
    </dgm:pt>
    <dgm:pt modelId="{9729F3F4-6349-4D9A-9418-B388CA00B653}" type="parTrans" cxnId="{77B9B2B0-1163-4407-B58D-668E8947D36C}">
      <dgm:prSet/>
      <dgm:spPr/>
      <dgm:t>
        <a:bodyPr/>
        <a:lstStyle/>
        <a:p>
          <a:endParaRPr lang="en-US"/>
        </a:p>
      </dgm:t>
    </dgm:pt>
    <dgm:pt modelId="{D9662728-9990-4BAC-80F0-D8D36E9F8AC8}" type="sibTrans" cxnId="{77B9B2B0-1163-4407-B58D-668E8947D36C}">
      <dgm:prSet/>
      <dgm:spPr/>
      <dgm:t>
        <a:bodyPr/>
        <a:lstStyle/>
        <a:p>
          <a:endParaRPr lang="en-US"/>
        </a:p>
      </dgm:t>
    </dgm:pt>
    <dgm:pt modelId="{A62A668B-EB95-4C7D-B7BB-C1553C8BDED8}" type="pres">
      <dgm:prSet presAssocID="{62F95587-29FA-4216-8139-804CA4F18ABA}" presName="Name0" presStyleCnt="0">
        <dgm:presLayoutVars>
          <dgm:dir/>
          <dgm:resizeHandles val="exact"/>
        </dgm:presLayoutVars>
      </dgm:prSet>
      <dgm:spPr/>
    </dgm:pt>
    <dgm:pt modelId="{03F98494-F067-4267-B7DA-DC7C3BAE08AE}" type="pres">
      <dgm:prSet presAssocID="{D1AFC430-7045-4BD4-A5B1-32CF2D18E72A}" presName="node" presStyleLbl="node1" presStyleIdx="0" presStyleCnt="2">
        <dgm:presLayoutVars>
          <dgm:bulletEnabled val="1"/>
        </dgm:presLayoutVars>
      </dgm:prSet>
      <dgm:spPr/>
    </dgm:pt>
    <dgm:pt modelId="{C083D98F-216B-4B7A-963D-BEE409D7CD37}" type="pres">
      <dgm:prSet presAssocID="{25AA770C-24AB-44BB-8A02-C6B7D1BF454C}" presName="sibTrans" presStyleLbl="sibTrans2D1" presStyleIdx="0" presStyleCnt="1"/>
      <dgm:spPr/>
    </dgm:pt>
    <dgm:pt modelId="{35A44623-3C8D-4B26-84A3-CC44C122440E}" type="pres">
      <dgm:prSet presAssocID="{25AA770C-24AB-44BB-8A02-C6B7D1BF454C}" presName="connectorText" presStyleLbl="sibTrans2D1" presStyleIdx="0" presStyleCnt="1"/>
      <dgm:spPr/>
    </dgm:pt>
    <dgm:pt modelId="{F49AE5D8-5B21-412B-8B1B-BA915CAA867E}" type="pres">
      <dgm:prSet presAssocID="{6FCE6FC9-3A81-4586-86DA-6A8074F12DA7}" presName="node" presStyleLbl="node1" presStyleIdx="1" presStyleCnt="2">
        <dgm:presLayoutVars>
          <dgm:bulletEnabled val="1"/>
        </dgm:presLayoutVars>
      </dgm:prSet>
      <dgm:spPr/>
    </dgm:pt>
  </dgm:ptLst>
  <dgm:cxnLst>
    <dgm:cxn modelId="{63492104-61ED-46B8-9C4E-2BD7DDFF1F78}" type="presOf" srcId="{6FCE6FC9-3A81-4586-86DA-6A8074F12DA7}" destId="{F49AE5D8-5B21-412B-8B1B-BA915CAA867E}" srcOrd="0" destOrd="0" presId="urn:microsoft.com/office/officeart/2005/8/layout/process1"/>
    <dgm:cxn modelId="{78B96229-8824-470A-B142-0A6A61DB8DD2}" type="presOf" srcId="{62F95587-29FA-4216-8139-804CA4F18ABA}" destId="{A62A668B-EB95-4C7D-B7BB-C1553C8BDED8}" srcOrd="0" destOrd="0" presId="urn:microsoft.com/office/officeart/2005/8/layout/process1"/>
    <dgm:cxn modelId="{A55FDC5B-8C30-41DE-BF3B-4183090CAF39}" type="presOf" srcId="{25AA770C-24AB-44BB-8A02-C6B7D1BF454C}" destId="{C083D98F-216B-4B7A-963D-BEE409D7CD37}" srcOrd="0" destOrd="0" presId="urn:microsoft.com/office/officeart/2005/8/layout/process1"/>
    <dgm:cxn modelId="{97E58F52-C613-4EC4-B807-1C2F5B653B3A}" srcId="{62F95587-29FA-4216-8139-804CA4F18ABA}" destId="{D1AFC430-7045-4BD4-A5B1-32CF2D18E72A}" srcOrd="0" destOrd="0" parTransId="{9F6AA279-B550-4372-A11E-0FF4C09D94BA}" sibTransId="{25AA770C-24AB-44BB-8A02-C6B7D1BF454C}"/>
    <dgm:cxn modelId="{0B9ED054-815A-4690-A0F6-67C8EBA25363}" type="presOf" srcId="{D1AFC430-7045-4BD4-A5B1-32CF2D18E72A}" destId="{03F98494-F067-4267-B7DA-DC7C3BAE08AE}" srcOrd="0" destOrd="0" presId="urn:microsoft.com/office/officeart/2005/8/layout/process1"/>
    <dgm:cxn modelId="{77B9B2B0-1163-4407-B58D-668E8947D36C}" srcId="{62F95587-29FA-4216-8139-804CA4F18ABA}" destId="{6FCE6FC9-3A81-4586-86DA-6A8074F12DA7}" srcOrd="1" destOrd="0" parTransId="{9729F3F4-6349-4D9A-9418-B388CA00B653}" sibTransId="{D9662728-9990-4BAC-80F0-D8D36E9F8AC8}"/>
    <dgm:cxn modelId="{BBF2F6FC-F975-4C15-87A1-C8F723AC7FDC}" type="presOf" srcId="{25AA770C-24AB-44BB-8A02-C6B7D1BF454C}" destId="{35A44623-3C8D-4B26-84A3-CC44C122440E}" srcOrd="1" destOrd="0" presId="urn:microsoft.com/office/officeart/2005/8/layout/process1"/>
    <dgm:cxn modelId="{31B515BC-D2BD-439B-B9A0-269C126A1604}" type="presParOf" srcId="{A62A668B-EB95-4C7D-B7BB-C1553C8BDED8}" destId="{03F98494-F067-4267-B7DA-DC7C3BAE08AE}" srcOrd="0" destOrd="0" presId="urn:microsoft.com/office/officeart/2005/8/layout/process1"/>
    <dgm:cxn modelId="{6B4D2174-058E-4CC0-BBC5-0AEBBDAF91FF}" type="presParOf" srcId="{A62A668B-EB95-4C7D-B7BB-C1553C8BDED8}" destId="{C083D98F-216B-4B7A-963D-BEE409D7CD37}" srcOrd="1" destOrd="0" presId="urn:microsoft.com/office/officeart/2005/8/layout/process1"/>
    <dgm:cxn modelId="{C308390D-6AD5-4E7D-94A5-DF4529255BA2}" type="presParOf" srcId="{C083D98F-216B-4B7A-963D-BEE409D7CD37}" destId="{35A44623-3C8D-4B26-84A3-CC44C122440E}" srcOrd="0" destOrd="0" presId="urn:microsoft.com/office/officeart/2005/8/layout/process1"/>
    <dgm:cxn modelId="{6F0F93E7-8BEA-475F-AC19-147DFB93B612}" type="presParOf" srcId="{A62A668B-EB95-4C7D-B7BB-C1553C8BDED8}" destId="{F49AE5D8-5B21-412B-8B1B-BA915CAA867E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41C232-44AD-4F72-9F44-E216CF665D38}">
      <dsp:nvSpPr>
        <dsp:cNvPr id="0" name=""/>
        <dsp:cNvSpPr/>
      </dsp:nvSpPr>
      <dsp:spPr>
        <a:xfrm rot="5400000">
          <a:off x="7327845" y="-3165384"/>
          <a:ext cx="722709" cy="72368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It allows us to narrow down the execution path during a failure</a:t>
          </a:r>
        </a:p>
      </dsp:txBody>
      <dsp:txXfrm rot="-5400000">
        <a:off x="4070753" y="126988"/>
        <a:ext cx="7201614" cy="652149"/>
      </dsp:txXfrm>
    </dsp:sp>
    <dsp:sp modelId="{321F2014-629A-41FC-AD89-64384474DC4C}">
      <dsp:nvSpPr>
        <dsp:cNvPr id="0" name=""/>
        <dsp:cNvSpPr/>
      </dsp:nvSpPr>
      <dsp:spPr>
        <a:xfrm>
          <a:off x="0" y="1368"/>
          <a:ext cx="4070752" cy="9033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Debugging through crashes</a:t>
          </a:r>
        </a:p>
      </dsp:txBody>
      <dsp:txXfrm>
        <a:off x="44100" y="45468"/>
        <a:ext cx="3982552" cy="815186"/>
      </dsp:txXfrm>
    </dsp:sp>
    <dsp:sp modelId="{6F847FA5-1DC2-4F8D-8486-12A0DAACC181}">
      <dsp:nvSpPr>
        <dsp:cNvPr id="0" name=""/>
        <dsp:cNvSpPr/>
      </dsp:nvSpPr>
      <dsp:spPr>
        <a:xfrm rot="5400000">
          <a:off x="7327845" y="-2216829"/>
          <a:ext cx="722709" cy="72368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/>
            <a:t>Check what code is executing and what isn’t</a:t>
          </a:r>
          <a:endParaRPr lang="en-US" sz="2100" kern="1200" dirty="0"/>
        </a:p>
      </dsp:txBody>
      <dsp:txXfrm rot="-5400000">
        <a:off x="4070753" y="1075543"/>
        <a:ext cx="7201614" cy="652149"/>
      </dsp:txXfrm>
    </dsp:sp>
    <dsp:sp modelId="{14CA2774-2FF9-49C4-B2EA-4479E28BCD1F}">
      <dsp:nvSpPr>
        <dsp:cNvPr id="0" name=""/>
        <dsp:cNvSpPr/>
      </dsp:nvSpPr>
      <dsp:spPr>
        <a:xfrm>
          <a:off x="0" y="949924"/>
          <a:ext cx="4070752" cy="9033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Code coverage</a:t>
          </a:r>
        </a:p>
      </dsp:txBody>
      <dsp:txXfrm>
        <a:off x="44100" y="994024"/>
        <a:ext cx="3982552" cy="815186"/>
      </dsp:txXfrm>
    </dsp:sp>
    <dsp:sp modelId="{C2562D3B-4FE2-4CA4-B209-261F78F8474C}">
      <dsp:nvSpPr>
        <dsp:cNvPr id="0" name=""/>
        <dsp:cNvSpPr/>
      </dsp:nvSpPr>
      <dsp:spPr>
        <a:xfrm rot="5400000">
          <a:off x="7327845" y="-1268273"/>
          <a:ext cx="722709" cy="723689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kern="1200" dirty="0"/>
            <a:t>Measure the performance of your application and identify bottlenecks</a:t>
          </a:r>
        </a:p>
      </dsp:txBody>
      <dsp:txXfrm rot="-5400000">
        <a:off x="4070753" y="2024099"/>
        <a:ext cx="7201614" cy="652149"/>
      </dsp:txXfrm>
    </dsp:sp>
    <dsp:sp modelId="{580874EB-A328-4037-835C-7D195E2EEF40}">
      <dsp:nvSpPr>
        <dsp:cNvPr id="0" name=""/>
        <dsp:cNvSpPr/>
      </dsp:nvSpPr>
      <dsp:spPr>
        <a:xfrm>
          <a:off x="0" y="1898480"/>
          <a:ext cx="4070752" cy="9033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Performance Analysis</a:t>
          </a:r>
        </a:p>
      </dsp:txBody>
      <dsp:txXfrm>
        <a:off x="44100" y="1942580"/>
        <a:ext cx="3982552" cy="8151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F98494-F067-4267-B7DA-DC7C3BAE08AE}">
      <dsp:nvSpPr>
        <dsp:cNvPr id="0" name=""/>
        <dsp:cNvSpPr/>
      </dsp:nvSpPr>
      <dsp:spPr>
        <a:xfrm>
          <a:off x="2264" y="855831"/>
          <a:ext cx="4828082" cy="2896849"/>
        </a:xfrm>
        <a:prstGeom prst="roundRect">
          <a:avLst>
            <a:gd name="adj" fmla="val 10000"/>
          </a:avLst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Implement a Proof-of-Concept showcasing the ability to enable, configure and extract trace using an ST-Link</a:t>
          </a:r>
        </a:p>
      </dsp:txBody>
      <dsp:txXfrm>
        <a:off x="87110" y="940677"/>
        <a:ext cx="4658390" cy="2727157"/>
      </dsp:txXfrm>
    </dsp:sp>
    <dsp:sp modelId="{C083D98F-216B-4B7A-963D-BEE409D7CD37}">
      <dsp:nvSpPr>
        <dsp:cNvPr id="0" name=""/>
        <dsp:cNvSpPr/>
      </dsp:nvSpPr>
      <dsp:spPr>
        <a:xfrm>
          <a:off x="5313154" y="1705573"/>
          <a:ext cx="1023553" cy="1197364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5313154" y="1945046"/>
        <a:ext cx="716487" cy="718418"/>
      </dsp:txXfrm>
    </dsp:sp>
    <dsp:sp modelId="{F49AE5D8-5B21-412B-8B1B-BA915CAA867E}">
      <dsp:nvSpPr>
        <dsp:cNvPr id="0" name=""/>
        <dsp:cNvSpPr/>
      </dsp:nvSpPr>
      <dsp:spPr>
        <a:xfrm>
          <a:off x="6761578" y="855831"/>
          <a:ext cx="4828082" cy="2896849"/>
        </a:xfrm>
        <a:prstGeom prst="roundRect">
          <a:avLst>
            <a:gd name="adj" fmla="val 10000"/>
          </a:avLst>
        </a:prstGeom>
        <a:solidFill>
          <a:schemeClr val="accent3">
            <a:hueOff val="-8894141"/>
            <a:satOff val="22727"/>
            <a:lumOff val="-686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Implement a debugger making use of the extracted trace data, offering trace processing capabilities during and outside of a debug session.</a:t>
          </a:r>
        </a:p>
      </dsp:txBody>
      <dsp:txXfrm>
        <a:off x="6846424" y="940677"/>
        <a:ext cx="4658390" cy="2727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43B43-F286-48C1-BBED-D571E17C6AE3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37A20C-0A41-4975-BF38-102D39C809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226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37A20C-0A41-4975-BF38-102D39C8097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678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8E59B-3326-4FD4-8806-9EAC0DB7D607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501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.com/trademarks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rgbClr val="0023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pic>
        <p:nvPicPr>
          <p:cNvPr id="4" name="Graphic 14">
            <a:extLst>
              <a:ext uri="{FF2B5EF4-FFF2-40B4-BE49-F238E27FC236}">
                <a16:creationId xmlns:a16="http://schemas.microsoft.com/office/drawing/2014/main" id="{70CC30A6-5943-4618-79CD-9E122FDCAE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86242" y="47623"/>
            <a:ext cx="1857226" cy="128016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09F09FF-C8AF-EE46-958B-11187A34AAE5}"/>
              </a:ext>
            </a:extLst>
          </p:cNvPr>
          <p:cNvSpPr/>
          <p:nvPr userDrawn="1"/>
        </p:nvSpPr>
        <p:spPr>
          <a:xfrm>
            <a:off x="-228" y="0"/>
            <a:ext cx="30026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0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428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accent4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pic>
        <p:nvPicPr>
          <p:cNvPr id="3" name="Graphic 5">
            <a:extLst>
              <a:ext uri="{FF2B5EF4-FFF2-40B4-BE49-F238E27FC236}">
                <a16:creationId xmlns:a16="http://schemas.microsoft.com/office/drawing/2014/main" id="{7B0BAF98-BF01-8628-815D-6C637563DA9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68647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52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0550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6206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solidFill>
            <a:schemeClr val="accent4"/>
          </a:solidFill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661350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F8E72F1-E261-A4D3-03FD-FCC351987924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A1E53E3-FC79-490F-927D-EDA5C06E6818}"/>
                </a:ext>
              </a:extLst>
            </p:cNvPr>
            <p:cNvSpPr/>
            <p:nvPr userDrawn="1"/>
          </p:nvSpPr>
          <p:spPr>
            <a:xfrm>
              <a:off x="0" y="0"/>
              <a:ext cx="12192000" cy="6854862"/>
            </a:xfrm>
            <a:prstGeom prst="rect">
              <a:avLst/>
            </a:prstGeom>
            <a:solidFill>
              <a:srgbClr val="00234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C8CE8D-FE25-40F5-A966-5717F85ACF9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2959336" y="1565049"/>
              <a:ext cx="6273328" cy="2280102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94F7AD-3707-136B-D04F-5BE5160AF4A4}"/>
                </a:ext>
              </a:extLst>
            </p:cNvPr>
            <p:cNvSpPr/>
            <p:nvPr userDrawn="1"/>
          </p:nvSpPr>
          <p:spPr>
            <a:xfrm>
              <a:off x="0" y="5580993"/>
              <a:ext cx="12192000" cy="12770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970C644-A64B-B0FF-7271-99A256079D04}"/>
                </a:ext>
              </a:extLst>
            </p:cNvPr>
            <p:cNvSpPr/>
            <p:nvPr userDrawn="1"/>
          </p:nvSpPr>
          <p:spPr>
            <a:xfrm>
              <a:off x="219558" y="5822714"/>
              <a:ext cx="9395219" cy="8309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  <a:t>© STMicroelectronics - All rights reserved.</a:t>
              </a:r>
              <a:br>
                <a:rPr lang="en-US" sz="1200" dirty="0">
                  <a:solidFill>
                    <a:srgbClr val="00234B"/>
                  </a:solidFill>
                  <a:latin typeface="Arial" panose="020B0604020202020204" pitchFamily="34" charset="0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ST logo is a trademark or a registered trademark of STMicroelectronics International NV or its affiliates in the EU and/or other countries. For additional information about ST trademarks, please refer to 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www.st.com/trademarks</a:t>
              </a: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. </a:t>
              </a:r>
              <a:b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</a:br>
              <a:r>
                <a:rPr lang="en-US" sz="1200" kern="1200" dirty="0">
                  <a:solidFill>
                    <a:srgbClr val="00234B"/>
                  </a:solidFill>
                  <a:latin typeface="Arial" panose="020B0604020202020204" pitchFamily="34" charset="0"/>
                  <a:ea typeface="+mn-ea"/>
                  <a:cs typeface="+mn-cs"/>
                </a:rPr>
                <a:t>All other product or service names are the property of their respective owners.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DF6297DC-F8E9-1EA8-8CF6-587BC0B48C5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66753" y="5668010"/>
              <a:ext cx="1591910" cy="10972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0001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7CD4E90-0AD7-41F7-BEF4-B339EC998E49}"/>
              </a:ext>
            </a:extLst>
          </p:cNvPr>
          <p:cNvSpPr/>
          <p:nvPr/>
        </p:nvSpPr>
        <p:spPr>
          <a:xfrm>
            <a:off x="12004894" y="0"/>
            <a:ext cx="187105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C1749DD-5CB4-BAFF-5C24-97F0F00F15F6}"/>
              </a:ext>
            </a:extLst>
          </p:cNvPr>
          <p:cNvGrpSpPr/>
          <p:nvPr userDrawn="1"/>
        </p:nvGrpSpPr>
        <p:grpSpPr>
          <a:xfrm>
            <a:off x="-350520" y="4319928"/>
            <a:ext cx="317500" cy="952500"/>
            <a:chOff x="-342900" y="4319928"/>
            <a:chExt cx="317500" cy="952500"/>
          </a:xfrm>
        </p:grpSpPr>
        <p:sp>
          <p:nvSpPr>
            <p:cNvPr id="43" name="ColorPatch">
              <a:extLst>
                <a:ext uri="{FF2B5EF4-FFF2-40B4-BE49-F238E27FC236}">
                  <a16:creationId xmlns:a16="http://schemas.microsoft.com/office/drawing/2014/main" id="{A2E2F886-C330-51CE-B5C9-AB46F1404BB1}"/>
                </a:ext>
              </a:extLst>
            </p:cNvPr>
            <p:cNvSpPr/>
            <p:nvPr userDrawn="1"/>
          </p:nvSpPr>
          <p:spPr>
            <a:xfrm>
              <a:off x="-342900" y="4954928"/>
              <a:ext cx="317500" cy="317500"/>
            </a:xfrm>
            <a:prstGeom prst="rect">
              <a:avLst/>
            </a:prstGeom>
            <a:solidFill>
              <a:srgbClr val="EEEFF1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4" name="ColorPatch">
              <a:extLst>
                <a:ext uri="{FF2B5EF4-FFF2-40B4-BE49-F238E27FC236}">
                  <a16:creationId xmlns:a16="http://schemas.microsoft.com/office/drawing/2014/main" id="{FDB36328-023C-D8C1-7E6B-A648091D0ED0}"/>
                </a:ext>
              </a:extLst>
            </p:cNvPr>
            <p:cNvSpPr/>
            <p:nvPr userDrawn="1"/>
          </p:nvSpPr>
          <p:spPr>
            <a:xfrm>
              <a:off x="-342900" y="4637428"/>
              <a:ext cx="317500" cy="317500"/>
            </a:xfrm>
            <a:prstGeom prst="rect">
              <a:avLst/>
            </a:prstGeom>
            <a:solidFill>
              <a:srgbClr val="A6ADB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45" name="ColorPatch">
              <a:extLst>
                <a:ext uri="{FF2B5EF4-FFF2-40B4-BE49-F238E27FC236}">
                  <a16:creationId xmlns:a16="http://schemas.microsoft.com/office/drawing/2014/main" id="{9F8E65A1-0412-05F6-3F82-8EB79873A102}"/>
                </a:ext>
              </a:extLst>
            </p:cNvPr>
            <p:cNvSpPr/>
            <p:nvPr userDrawn="1"/>
          </p:nvSpPr>
          <p:spPr>
            <a:xfrm>
              <a:off x="-342900" y="4319928"/>
              <a:ext cx="317500" cy="317500"/>
            </a:xfrm>
            <a:prstGeom prst="rect">
              <a:avLst/>
            </a:prstGeom>
            <a:solidFill>
              <a:srgbClr val="525A63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732C244-0C14-30D0-0478-36AA2A9F0B44}"/>
              </a:ext>
            </a:extLst>
          </p:cNvPr>
          <p:cNvGrpSpPr/>
          <p:nvPr userDrawn="1"/>
        </p:nvGrpSpPr>
        <p:grpSpPr>
          <a:xfrm>
            <a:off x="-350520" y="2879952"/>
            <a:ext cx="317500" cy="1270000"/>
            <a:chOff x="-342900" y="2879952"/>
            <a:chExt cx="317500" cy="1270000"/>
          </a:xfrm>
        </p:grpSpPr>
        <p:sp>
          <p:nvSpPr>
            <p:cNvPr id="50" name="ColorPatch">
              <a:extLst>
                <a:ext uri="{FF2B5EF4-FFF2-40B4-BE49-F238E27FC236}">
                  <a16:creationId xmlns:a16="http://schemas.microsoft.com/office/drawing/2014/main" id="{31E1361B-325C-EE46-1B21-F5A3ABF1D2F3}"/>
                </a:ext>
              </a:extLst>
            </p:cNvPr>
            <p:cNvSpPr/>
            <p:nvPr userDrawn="1"/>
          </p:nvSpPr>
          <p:spPr>
            <a:xfrm>
              <a:off x="-342900" y="3832452"/>
              <a:ext cx="317500" cy="317500"/>
            </a:xfrm>
            <a:prstGeom prst="rect">
              <a:avLst/>
            </a:prstGeom>
            <a:solidFill>
              <a:srgbClr val="FFF4B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1" name="ColorPatch">
              <a:extLst>
                <a:ext uri="{FF2B5EF4-FFF2-40B4-BE49-F238E27FC236}">
                  <a16:creationId xmlns:a16="http://schemas.microsoft.com/office/drawing/2014/main" id="{721D0BC2-53DB-3884-688A-247574811D85}"/>
                </a:ext>
              </a:extLst>
            </p:cNvPr>
            <p:cNvSpPr/>
            <p:nvPr userDrawn="1"/>
          </p:nvSpPr>
          <p:spPr>
            <a:xfrm>
              <a:off x="-342900" y="3515520"/>
              <a:ext cx="317500" cy="317500"/>
            </a:xfrm>
            <a:prstGeom prst="rect">
              <a:avLst/>
            </a:prstGeom>
            <a:solidFill>
              <a:srgbClr val="FFE87F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2" name="ColorPatch">
              <a:extLst>
                <a:ext uri="{FF2B5EF4-FFF2-40B4-BE49-F238E27FC236}">
                  <a16:creationId xmlns:a16="http://schemas.microsoft.com/office/drawing/2014/main" id="{3D10437D-D613-EB33-523B-3A294D6295FE}"/>
                </a:ext>
              </a:extLst>
            </p:cNvPr>
            <p:cNvSpPr/>
            <p:nvPr userDrawn="1"/>
          </p:nvSpPr>
          <p:spPr>
            <a:xfrm>
              <a:off x="-342900" y="3197452"/>
              <a:ext cx="317500" cy="317500"/>
            </a:xfrm>
            <a:prstGeom prst="rect">
              <a:avLst/>
            </a:prstGeom>
            <a:solidFill>
              <a:srgbClr val="FFDD4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3" name="ColorPatch">
              <a:extLst>
                <a:ext uri="{FF2B5EF4-FFF2-40B4-BE49-F238E27FC236}">
                  <a16:creationId xmlns:a16="http://schemas.microsoft.com/office/drawing/2014/main" id="{7605F83F-A2B9-B477-973E-B28376961D98}"/>
                </a:ext>
              </a:extLst>
            </p:cNvPr>
            <p:cNvSpPr/>
            <p:nvPr userDrawn="1"/>
          </p:nvSpPr>
          <p:spPr>
            <a:xfrm>
              <a:off x="-342900" y="2879952"/>
              <a:ext cx="317500" cy="317500"/>
            </a:xfrm>
            <a:prstGeom prst="rect">
              <a:avLst/>
            </a:prstGeom>
            <a:solidFill>
              <a:srgbClr val="FFD20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75168C8-3C72-052F-C7C0-7CD4B023E7F9}"/>
              </a:ext>
            </a:extLst>
          </p:cNvPr>
          <p:cNvGrpSpPr/>
          <p:nvPr userDrawn="1"/>
        </p:nvGrpSpPr>
        <p:grpSpPr>
          <a:xfrm>
            <a:off x="-350520" y="1439976"/>
            <a:ext cx="317500" cy="1270000"/>
            <a:chOff x="-342900" y="1439976"/>
            <a:chExt cx="317500" cy="1270000"/>
          </a:xfrm>
        </p:grpSpPr>
        <p:sp>
          <p:nvSpPr>
            <p:cNvPr id="55" name="ColorPatch">
              <a:extLst>
                <a:ext uri="{FF2B5EF4-FFF2-40B4-BE49-F238E27FC236}">
                  <a16:creationId xmlns:a16="http://schemas.microsoft.com/office/drawing/2014/main" id="{4A6E12F2-EF64-A2CC-1E25-B6F6B23289F8}"/>
                </a:ext>
              </a:extLst>
            </p:cNvPr>
            <p:cNvSpPr/>
            <p:nvPr userDrawn="1"/>
          </p:nvSpPr>
          <p:spPr>
            <a:xfrm>
              <a:off x="-342900" y="2392476"/>
              <a:ext cx="317500" cy="317500"/>
            </a:xfrm>
            <a:prstGeom prst="rect">
              <a:avLst/>
            </a:prstGeom>
            <a:solidFill>
              <a:srgbClr val="CEECF9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6" name="ColorPatch">
              <a:extLst>
                <a:ext uri="{FF2B5EF4-FFF2-40B4-BE49-F238E27FC236}">
                  <a16:creationId xmlns:a16="http://schemas.microsoft.com/office/drawing/2014/main" id="{DF4090A9-80E3-4F93-64FD-1A4F5C9704A1}"/>
                </a:ext>
              </a:extLst>
            </p:cNvPr>
            <p:cNvSpPr/>
            <p:nvPr userDrawn="1"/>
          </p:nvSpPr>
          <p:spPr>
            <a:xfrm>
              <a:off x="-342900" y="2074976"/>
              <a:ext cx="317500" cy="317500"/>
            </a:xfrm>
            <a:prstGeom prst="rect">
              <a:avLst/>
            </a:prstGeom>
            <a:solidFill>
              <a:srgbClr val="9DD9F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7" name="ColorPatch">
              <a:extLst>
                <a:ext uri="{FF2B5EF4-FFF2-40B4-BE49-F238E27FC236}">
                  <a16:creationId xmlns:a16="http://schemas.microsoft.com/office/drawing/2014/main" id="{383C7A3C-7DEE-3289-0A64-6DC893E895F6}"/>
                </a:ext>
              </a:extLst>
            </p:cNvPr>
            <p:cNvSpPr/>
            <p:nvPr userDrawn="1"/>
          </p:nvSpPr>
          <p:spPr>
            <a:xfrm>
              <a:off x="-342900" y="1757476"/>
              <a:ext cx="317500" cy="317500"/>
            </a:xfrm>
            <a:prstGeom prst="rect">
              <a:avLst/>
            </a:prstGeom>
            <a:solidFill>
              <a:srgbClr val="6DC7EC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58" name="ColorPatch">
              <a:extLst>
                <a:ext uri="{FF2B5EF4-FFF2-40B4-BE49-F238E27FC236}">
                  <a16:creationId xmlns:a16="http://schemas.microsoft.com/office/drawing/2014/main" id="{199B6E69-48B5-574D-A56E-8532B8036346}"/>
                </a:ext>
              </a:extLst>
            </p:cNvPr>
            <p:cNvSpPr/>
            <p:nvPr userDrawn="1"/>
          </p:nvSpPr>
          <p:spPr>
            <a:xfrm>
              <a:off x="-342900" y="1439976"/>
              <a:ext cx="317500" cy="317500"/>
            </a:xfrm>
            <a:prstGeom prst="rect">
              <a:avLst/>
            </a:prstGeom>
            <a:solidFill>
              <a:srgbClr val="3CB4E6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776E4B5F-4E90-DA3A-7C84-81947655F1ED}"/>
              </a:ext>
            </a:extLst>
          </p:cNvPr>
          <p:cNvGrpSpPr/>
          <p:nvPr userDrawn="1"/>
        </p:nvGrpSpPr>
        <p:grpSpPr>
          <a:xfrm>
            <a:off x="-350520" y="0"/>
            <a:ext cx="317500" cy="1271047"/>
            <a:chOff x="-342900" y="0"/>
            <a:chExt cx="317500" cy="1271047"/>
          </a:xfrm>
        </p:grpSpPr>
        <p:sp>
          <p:nvSpPr>
            <p:cNvPr id="60" name="ColorPatch">
              <a:extLst>
                <a:ext uri="{FF2B5EF4-FFF2-40B4-BE49-F238E27FC236}">
                  <a16:creationId xmlns:a16="http://schemas.microsoft.com/office/drawing/2014/main" id="{E8CC3E9E-61E4-65A9-2FB7-B210351E32AB}"/>
                </a:ext>
              </a:extLst>
            </p:cNvPr>
            <p:cNvSpPr/>
            <p:nvPr userDrawn="1"/>
          </p:nvSpPr>
          <p:spPr>
            <a:xfrm>
              <a:off x="-342900" y="953547"/>
              <a:ext cx="317500" cy="317500"/>
            </a:xfrm>
            <a:prstGeom prst="rect">
              <a:avLst/>
            </a:prstGeom>
            <a:solidFill>
              <a:srgbClr val="C0C8D2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1" name="ColorPatch">
              <a:extLst>
                <a:ext uri="{FF2B5EF4-FFF2-40B4-BE49-F238E27FC236}">
                  <a16:creationId xmlns:a16="http://schemas.microsoft.com/office/drawing/2014/main" id="{52979BF7-37B7-C9E0-012F-AF2421299EA0}"/>
                </a:ext>
              </a:extLst>
            </p:cNvPr>
            <p:cNvSpPr/>
            <p:nvPr userDrawn="1"/>
          </p:nvSpPr>
          <p:spPr>
            <a:xfrm>
              <a:off x="-342900" y="635000"/>
              <a:ext cx="317500" cy="317500"/>
            </a:xfrm>
            <a:prstGeom prst="rect">
              <a:avLst/>
            </a:prstGeom>
            <a:solidFill>
              <a:srgbClr val="8191A5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2" name="ColorPatch">
              <a:extLst>
                <a:ext uri="{FF2B5EF4-FFF2-40B4-BE49-F238E27FC236}">
                  <a16:creationId xmlns:a16="http://schemas.microsoft.com/office/drawing/2014/main" id="{4F93A17E-06C6-9F0F-291B-C51A93E99B57}"/>
                </a:ext>
              </a:extLst>
            </p:cNvPr>
            <p:cNvSpPr/>
            <p:nvPr userDrawn="1"/>
          </p:nvSpPr>
          <p:spPr>
            <a:xfrm>
              <a:off x="-342900" y="317500"/>
              <a:ext cx="317500" cy="317500"/>
            </a:xfrm>
            <a:prstGeom prst="rect">
              <a:avLst/>
            </a:prstGeom>
            <a:solidFill>
              <a:srgbClr val="425A78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  <p:sp>
          <p:nvSpPr>
            <p:cNvPr id="63" name="ColorPatch">
              <a:extLst>
                <a:ext uri="{FF2B5EF4-FFF2-40B4-BE49-F238E27FC236}">
                  <a16:creationId xmlns:a16="http://schemas.microsoft.com/office/drawing/2014/main" id="{435540DC-615B-FEFF-859B-65830CAC8FD4}"/>
                </a:ext>
              </a:extLst>
            </p:cNvPr>
            <p:cNvSpPr/>
            <p:nvPr userDrawn="1"/>
          </p:nvSpPr>
          <p:spPr>
            <a:xfrm>
              <a:off x="-342900" y="0"/>
              <a:ext cx="317500" cy="317500"/>
            </a:xfrm>
            <a:prstGeom prst="rect">
              <a:avLst/>
            </a:prstGeom>
            <a:solidFill>
              <a:srgbClr val="03234B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lang="en-US" dirty="0" err="1"/>
            </a:p>
          </p:txBody>
        </p:sp>
      </p:grpSp>
      <p:pic>
        <p:nvPicPr>
          <p:cNvPr id="7" name="Graphic 6">
            <a:extLst>
              <a:ext uri="{FF2B5EF4-FFF2-40B4-BE49-F238E27FC236}">
                <a16:creationId xmlns:a16="http://schemas.microsoft.com/office/drawing/2014/main" id="{1B25AE6E-5128-CFAA-FFCC-CE0BB6C809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61974" y="6155372"/>
            <a:ext cx="928614" cy="6400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7DE927-2FE7-08AB-9F48-4FC4E3CDDDF6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06163" y="6611620"/>
            <a:ext cx="9652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 Restricted</a:t>
            </a:r>
          </a:p>
        </p:txBody>
      </p:sp>
    </p:spTree>
    <p:extLst>
      <p:ext uri="{BB962C8B-B14F-4D97-AF65-F5344CB8AC3E}">
        <p14:creationId xmlns:p14="http://schemas.microsoft.com/office/powerpoint/2010/main" val="1712531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9" r:id="rId7"/>
    <p:sldLayoutId id="2147483671" r:id="rId8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hyperlink" Target="http://www.st.com/" TargetMode="External"/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brandportal.s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17605-F4B6-F29D-78AB-0360B6640E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STM32 Debugger</a:t>
            </a:r>
            <a:br>
              <a:rPr lang="en-US" dirty="0"/>
            </a:br>
            <a:r>
              <a:rPr lang="en-US" dirty="0"/>
              <a:t>With Instruction Trace support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51C7E-9C3C-B6EC-FADA-339B0C510C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Youssef Hasnaoui</a:t>
            </a:r>
          </a:p>
        </p:txBody>
      </p:sp>
    </p:spTree>
    <p:extLst>
      <p:ext uri="{BB962C8B-B14F-4D97-AF65-F5344CB8AC3E}">
        <p14:creationId xmlns:p14="http://schemas.microsoft.com/office/powerpoint/2010/main" val="1571269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C006ACC-E987-C7A7-3422-103A76A405C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B3432E-AE69-5F85-0FC5-BB84AD77E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8BE283-3F05-E017-3083-62357D85AB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1649" y="1487433"/>
            <a:ext cx="4754880" cy="731520"/>
          </a:xfrm>
        </p:spPr>
        <p:txBody>
          <a:bodyPr/>
          <a:lstStyle/>
          <a:p>
            <a:r>
              <a:rPr lang="en-US" dirty="0"/>
              <a:t>Debugging embedded systems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1CEAB7B2-18FF-0F8A-4F0E-13BCDDA0C86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725ABBE-4D09-483B-5C21-E45ACF14AB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91649" y="2624425"/>
            <a:ext cx="4754880" cy="731520"/>
          </a:xfrm>
        </p:spPr>
        <p:txBody>
          <a:bodyPr/>
          <a:lstStyle/>
          <a:p>
            <a:r>
              <a:rPr lang="en-US" dirty="0"/>
              <a:t>What is Trace?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9F1601A-C562-E0EB-4DA5-35272C971F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A4DC94-3104-7B9D-1C3F-226D7352330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91649" y="3761417"/>
            <a:ext cx="4754880" cy="731520"/>
          </a:xfrm>
        </p:spPr>
        <p:txBody>
          <a:bodyPr/>
          <a:lstStyle/>
          <a:p>
            <a:r>
              <a:rPr lang="en-US" dirty="0"/>
              <a:t>Problem &amp; Proposed solution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5BE17351-FECB-90FB-FC8B-21FE5154918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3B923B5-21FB-5D6E-C8AF-C55874717F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1649" y="4898408"/>
            <a:ext cx="4754880" cy="731520"/>
          </a:xfrm>
        </p:spPr>
        <p:txBody>
          <a:bodyPr/>
          <a:lstStyle/>
          <a:p>
            <a:r>
              <a:rPr lang="en-US" dirty="0"/>
              <a:t>Debugger Architecture</a:t>
            </a:r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13A796A7-59BA-96DB-B4E2-051CD044BD8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C0EDDEC-C159-3CA4-8580-ED598064B3B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887611" y="1487433"/>
            <a:ext cx="4754880" cy="731520"/>
          </a:xfrm>
        </p:spPr>
        <p:txBody>
          <a:bodyPr/>
          <a:lstStyle/>
          <a:p>
            <a:r>
              <a:rPr lang="en-US" dirty="0"/>
              <a:t>Trace Extraction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E3F8495-6BFB-B003-7D8D-06A0F6B6E52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409FD5-92A9-6C0D-B523-BE46615AB5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87611" y="2624425"/>
            <a:ext cx="4754880" cy="731520"/>
          </a:xfrm>
        </p:spPr>
        <p:txBody>
          <a:bodyPr/>
          <a:lstStyle/>
          <a:p>
            <a:r>
              <a:rPr lang="en-US" dirty="0"/>
              <a:t>Trace Processing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5812348-DC9C-298C-78E8-778E568C3C8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553CA5-37D8-ED06-91E8-F0CCB019204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87611" y="3761417"/>
            <a:ext cx="4754880" cy="731520"/>
          </a:xfrm>
        </p:spPr>
        <p:txBody>
          <a:bodyPr/>
          <a:lstStyle/>
          <a:p>
            <a:r>
              <a:rPr lang="en-US" dirty="0"/>
              <a:t>UI Views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0372B2-A31B-2B16-C85F-4BD58C06129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846565-D8A4-51A3-B78C-F5826B0A81A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887611" y="4898408"/>
            <a:ext cx="4754880" cy="731520"/>
          </a:xfrm>
        </p:spPr>
        <p:txBody>
          <a:bodyPr/>
          <a:lstStyle/>
          <a:p>
            <a:r>
              <a:rPr lang="en-US" dirty="0"/>
              <a:t>Perspective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6E06C1-C5D3-1179-2148-B686D5D6A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64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6F1A30-1F85-0487-1A9C-F26878D0E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Debugging embedded systems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78D742-083C-94FB-0E34-4A85F2E988A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8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159EE-04AF-02E3-73BF-9D0DB6BF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Embedded Debugging Works</a:t>
            </a:r>
            <a:endParaRPr lang="en-US" dirty="0"/>
          </a:p>
        </p:txBody>
      </p:sp>
      <p:sp>
        <p:nvSpPr>
          <p:cNvPr id="3" name="!!Debugger">
            <a:extLst>
              <a:ext uri="{FF2B5EF4-FFF2-40B4-BE49-F238E27FC236}">
                <a16:creationId xmlns:a16="http://schemas.microsoft.com/office/drawing/2014/main" id="{C0391682-7F3A-3C93-F157-32251E71A71A}"/>
              </a:ext>
            </a:extLst>
          </p:cNvPr>
          <p:cNvSpPr/>
          <p:nvPr/>
        </p:nvSpPr>
        <p:spPr>
          <a:xfrm>
            <a:off x="5077523" y="1639486"/>
            <a:ext cx="2400639" cy="104112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Debugger Software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E64128D-BEF9-6811-A7C6-DFD009CCF372}"/>
              </a:ext>
            </a:extLst>
          </p:cNvPr>
          <p:cNvSpPr/>
          <p:nvPr/>
        </p:nvSpPr>
        <p:spPr>
          <a:xfrm>
            <a:off x="1748014" y="1889265"/>
            <a:ext cx="1729600" cy="541566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User</a:t>
            </a:r>
          </a:p>
        </p:txBody>
      </p:sp>
      <p:sp>
        <p:nvSpPr>
          <p:cNvPr id="21" name="!!Debug Probe">
            <a:extLst>
              <a:ext uri="{FF2B5EF4-FFF2-40B4-BE49-F238E27FC236}">
                <a16:creationId xmlns:a16="http://schemas.microsoft.com/office/drawing/2014/main" id="{69236318-C6A0-5D3D-8A8D-F9B7B0F71013}"/>
              </a:ext>
            </a:extLst>
          </p:cNvPr>
          <p:cNvSpPr/>
          <p:nvPr/>
        </p:nvSpPr>
        <p:spPr>
          <a:xfrm>
            <a:off x="5077522" y="3248833"/>
            <a:ext cx="2400639" cy="104112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Hardware Probe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6152442-07B8-A9B6-FC6B-71F489888487}"/>
              </a:ext>
            </a:extLst>
          </p:cNvPr>
          <p:cNvSpPr/>
          <p:nvPr/>
        </p:nvSpPr>
        <p:spPr>
          <a:xfrm>
            <a:off x="5077522" y="4858180"/>
            <a:ext cx="2400639" cy="1041124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Target Microcontroller</a:t>
            </a:r>
          </a:p>
        </p:txBody>
      </p:sp>
      <p:sp>
        <p:nvSpPr>
          <p:cNvPr id="24" name="Arrow: Up-Down 23">
            <a:extLst>
              <a:ext uri="{FF2B5EF4-FFF2-40B4-BE49-F238E27FC236}">
                <a16:creationId xmlns:a16="http://schemas.microsoft.com/office/drawing/2014/main" id="{580152FA-6710-C8B5-F92E-62346FFCD33C}"/>
              </a:ext>
            </a:extLst>
          </p:cNvPr>
          <p:cNvSpPr/>
          <p:nvPr/>
        </p:nvSpPr>
        <p:spPr>
          <a:xfrm>
            <a:off x="6175621" y="2680609"/>
            <a:ext cx="204440" cy="568223"/>
          </a:xfrm>
          <a:prstGeom prst="up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6" name="Arrow: Up-Down 25">
            <a:extLst>
              <a:ext uri="{FF2B5EF4-FFF2-40B4-BE49-F238E27FC236}">
                <a16:creationId xmlns:a16="http://schemas.microsoft.com/office/drawing/2014/main" id="{07ACBA7E-07DB-722D-911E-29FF1D9E9E7E}"/>
              </a:ext>
            </a:extLst>
          </p:cNvPr>
          <p:cNvSpPr/>
          <p:nvPr/>
        </p:nvSpPr>
        <p:spPr>
          <a:xfrm>
            <a:off x="6175621" y="4289957"/>
            <a:ext cx="204440" cy="568223"/>
          </a:xfrm>
          <a:prstGeom prst="up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7" name="Arrow: Left-Right 26">
            <a:extLst>
              <a:ext uri="{FF2B5EF4-FFF2-40B4-BE49-F238E27FC236}">
                <a16:creationId xmlns:a16="http://schemas.microsoft.com/office/drawing/2014/main" id="{705A40C6-5C3F-BE24-6B7C-79C21AB90A76}"/>
              </a:ext>
            </a:extLst>
          </p:cNvPr>
          <p:cNvSpPr/>
          <p:nvPr/>
        </p:nvSpPr>
        <p:spPr>
          <a:xfrm>
            <a:off x="3477614" y="1987534"/>
            <a:ext cx="1599908" cy="270783"/>
          </a:xfrm>
          <a:prstGeom prst="left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E8BA9525-1C37-CABE-EFA3-BA27CD87F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70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  <p:bldP spid="21" grpId="0" animBg="1"/>
      <p:bldP spid="23" grpId="0" animBg="1"/>
      <p:bldP spid="24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CA78E-3DDC-307A-7E8A-E273089B0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6125A-C028-0693-9629-417F25B32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Embedded Debugging Works</a:t>
            </a:r>
            <a:endParaRPr lang="en-US" dirty="0"/>
          </a:p>
        </p:txBody>
      </p:sp>
      <p:sp>
        <p:nvSpPr>
          <p:cNvPr id="4" name="!!Debugger">
            <a:extLst>
              <a:ext uri="{FF2B5EF4-FFF2-40B4-BE49-F238E27FC236}">
                <a16:creationId xmlns:a16="http://schemas.microsoft.com/office/drawing/2014/main" id="{112D2650-E0AF-66CB-E40D-A1883176EA92}"/>
              </a:ext>
            </a:extLst>
          </p:cNvPr>
          <p:cNvSpPr/>
          <p:nvPr/>
        </p:nvSpPr>
        <p:spPr>
          <a:xfrm>
            <a:off x="1079170" y="1966822"/>
            <a:ext cx="2924355" cy="146217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Debugger Software</a:t>
            </a:r>
          </a:p>
        </p:txBody>
      </p:sp>
      <p:sp>
        <p:nvSpPr>
          <p:cNvPr id="8" name="!!Command to probe">
            <a:extLst>
              <a:ext uri="{FF2B5EF4-FFF2-40B4-BE49-F238E27FC236}">
                <a16:creationId xmlns:a16="http://schemas.microsoft.com/office/drawing/2014/main" id="{C6462042-806F-0207-0225-3E1091115FF2}"/>
              </a:ext>
            </a:extLst>
          </p:cNvPr>
          <p:cNvSpPr/>
          <p:nvPr/>
        </p:nvSpPr>
        <p:spPr>
          <a:xfrm>
            <a:off x="4003525" y="2181885"/>
            <a:ext cx="4008451" cy="353085"/>
          </a:xfrm>
          <a:prstGeom prst="rightArrow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5BE4FCD-98DE-07E6-2219-8B9CDE994375}"/>
              </a:ext>
            </a:extLst>
          </p:cNvPr>
          <p:cNvSpPr/>
          <p:nvPr/>
        </p:nvSpPr>
        <p:spPr>
          <a:xfrm flipH="1">
            <a:off x="4003525" y="2760174"/>
            <a:ext cx="4008451" cy="353085"/>
          </a:xfrm>
          <a:prstGeom prst="rightArrow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!!Debug Probe">
            <a:extLst>
              <a:ext uri="{FF2B5EF4-FFF2-40B4-BE49-F238E27FC236}">
                <a16:creationId xmlns:a16="http://schemas.microsoft.com/office/drawing/2014/main" id="{45AC1320-B665-1B92-E4B7-5AD0F82F2785}"/>
              </a:ext>
            </a:extLst>
          </p:cNvPr>
          <p:cNvSpPr/>
          <p:nvPr/>
        </p:nvSpPr>
        <p:spPr>
          <a:xfrm>
            <a:off x="8011976" y="1975875"/>
            <a:ext cx="2924355" cy="1462177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Hardware Probe</a:t>
            </a:r>
          </a:p>
        </p:txBody>
      </p:sp>
      <p:sp>
        <p:nvSpPr>
          <p:cNvPr id="11" name="!!CommandT to probe">
            <a:extLst>
              <a:ext uri="{FF2B5EF4-FFF2-40B4-BE49-F238E27FC236}">
                <a16:creationId xmlns:a16="http://schemas.microsoft.com/office/drawing/2014/main" id="{28B05988-CD41-8D98-BF3C-F83171C5C6BD}"/>
              </a:ext>
            </a:extLst>
          </p:cNvPr>
          <p:cNvSpPr txBox="1"/>
          <p:nvPr/>
        </p:nvSpPr>
        <p:spPr>
          <a:xfrm>
            <a:off x="4966440" y="1812553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Sends Commands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E0211CD-E23E-55C7-13AF-7CC619D8E934}"/>
              </a:ext>
            </a:extLst>
          </p:cNvPr>
          <p:cNvSpPr txBox="1"/>
          <p:nvPr/>
        </p:nvSpPr>
        <p:spPr>
          <a:xfrm>
            <a:off x="4800413" y="3113259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Sends Data and Events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FE1C076-43B5-2889-824B-CE20B7DCE858}"/>
              </a:ext>
            </a:extLst>
          </p:cNvPr>
          <p:cNvSpPr txBox="1"/>
          <p:nvPr/>
        </p:nvSpPr>
        <p:spPr>
          <a:xfrm>
            <a:off x="3888099" y="4090897"/>
            <a:ext cx="42393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Reading/Writing from and to memory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Halting or resetting the device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Reading Core registers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Setting up breakpoints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76A266-439A-1DD5-CD2D-91D68AA5685D}"/>
              </a:ext>
            </a:extLst>
          </p:cNvPr>
          <p:cNvSpPr txBox="1"/>
          <p:nvPr/>
        </p:nvSpPr>
        <p:spPr>
          <a:xfrm>
            <a:off x="5415280" y="2465397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USB/TCP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D6EE7E24-1EB2-C9B0-8AE5-4C06C631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8670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C1348-381E-7398-3037-C12BBA294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SWD">
            <a:extLst>
              <a:ext uri="{FF2B5EF4-FFF2-40B4-BE49-F238E27FC236}">
                <a16:creationId xmlns:a16="http://schemas.microsoft.com/office/drawing/2014/main" id="{E62CB9A6-DCF3-6838-76FB-52541FD35A95}"/>
              </a:ext>
            </a:extLst>
          </p:cNvPr>
          <p:cNvSpPr/>
          <p:nvPr/>
        </p:nvSpPr>
        <p:spPr>
          <a:xfrm>
            <a:off x="7566793" y="3252456"/>
            <a:ext cx="4008451" cy="353085"/>
          </a:xfrm>
          <a:prstGeom prst="rightArrow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27E176-41E7-BA69-165F-BC9E0237A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Embedded Debugging Works</a:t>
            </a:r>
            <a:endParaRPr lang="en-US" dirty="0"/>
          </a:p>
        </p:txBody>
      </p:sp>
      <p:sp>
        <p:nvSpPr>
          <p:cNvPr id="8" name="!!Command to probe">
            <a:extLst>
              <a:ext uri="{FF2B5EF4-FFF2-40B4-BE49-F238E27FC236}">
                <a16:creationId xmlns:a16="http://schemas.microsoft.com/office/drawing/2014/main" id="{96D84A8C-B9D4-C24B-645D-7187C09B66FE}"/>
              </a:ext>
            </a:extLst>
          </p:cNvPr>
          <p:cNvSpPr/>
          <p:nvPr/>
        </p:nvSpPr>
        <p:spPr>
          <a:xfrm>
            <a:off x="633986" y="3252456"/>
            <a:ext cx="4008451" cy="353085"/>
          </a:xfrm>
          <a:prstGeom prst="rightArrow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!!Debug Probe">
            <a:extLst>
              <a:ext uri="{FF2B5EF4-FFF2-40B4-BE49-F238E27FC236}">
                <a16:creationId xmlns:a16="http://schemas.microsoft.com/office/drawing/2014/main" id="{972A601C-1BDA-9933-4677-38C1E8334C58}"/>
              </a:ext>
            </a:extLst>
          </p:cNvPr>
          <p:cNvSpPr/>
          <p:nvPr/>
        </p:nvSpPr>
        <p:spPr>
          <a:xfrm>
            <a:off x="4642438" y="2697911"/>
            <a:ext cx="2924355" cy="1462177"/>
          </a:xfrm>
          <a:prstGeom prst="roundRect">
            <a:avLst/>
          </a:prstGeom>
          <a:solidFill>
            <a:schemeClr val="tx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>
                <a:solidFill>
                  <a:schemeClr val="bg1"/>
                </a:solidFill>
              </a:rPr>
              <a:t>Hardware Probe</a:t>
            </a:r>
          </a:p>
        </p:txBody>
      </p:sp>
      <p:sp>
        <p:nvSpPr>
          <p:cNvPr id="19" name="!!CommandT to probe">
            <a:extLst>
              <a:ext uri="{FF2B5EF4-FFF2-40B4-BE49-F238E27FC236}">
                <a16:creationId xmlns:a16="http://schemas.microsoft.com/office/drawing/2014/main" id="{8C1EEFA0-BC9F-99AF-D1C2-1341F5787B7F}"/>
              </a:ext>
            </a:extLst>
          </p:cNvPr>
          <p:cNvSpPr txBox="1"/>
          <p:nvPr/>
        </p:nvSpPr>
        <p:spPr>
          <a:xfrm>
            <a:off x="1167297" y="3558964"/>
            <a:ext cx="294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Commands over USB/TCP</a:t>
            </a:r>
          </a:p>
        </p:txBody>
      </p:sp>
      <p:sp>
        <p:nvSpPr>
          <p:cNvPr id="5" name="!!SWD_Text">
            <a:extLst>
              <a:ext uri="{FF2B5EF4-FFF2-40B4-BE49-F238E27FC236}">
                <a16:creationId xmlns:a16="http://schemas.microsoft.com/office/drawing/2014/main" id="{52719AD8-763C-242B-623F-FA11BD2D279B}"/>
              </a:ext>
            </a:extLst>
          </p:cNvPr>
          <p:cNvSpPr txBox="1"/>
          <p:nvPr/>
        </p:nvSpPr>
        <p:spPr>
          <a:xfrm>
            <a:off x="8624381" y="3558964"/>
            <a:ext cx="1893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Device Protocol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99DC65-0113-024D-A50D-664A79BEA7D0}"/>
              </a:ext>
            </a:extLst>
          </p:cNvPr>
          <p:cNvSpPr txBox="1"/>
          <p:nvPr/>
        </p:nvSpPr>
        <p:spPr>
          <a:xfrm>
            <a:off x="4268635" y="4252968"/>
            <a:ext cx="36547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buClr>
                <a:schemeClr val="bg1"/>
              </a:buClr>
            </a:pPr>
            <a:r>
              <a:rPr lang="en-US" dirty="0"/>
              <a:t>Translates the commands to something the microcontroller understands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AFAF6C7-3701-580B-9D96-ADFB9DA23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950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148C2-A9B8-2638-22FC-88C3F09A9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SWD">
            <a:extLst>
              <a:ext uri="{FF2B5EF4-FFF2-40B4-BE49-F238E27FC236}">
                <a16:creationId xmlns:a16="http://schemas.microsoft.com/office/drawing/2014/main" id="{F4CEEF82-FBB7-D852-0D68-FA412907ED41}"/>
              </a:ext>
            </a:extLst>
          </p:cNvPr>
          <p:cNvSpPr/>
          <p:nvPr/>
        </p:nvSpPr>
        <p:spPr>
          <a:xfrm>
            <a:off x="4158575" y="2888973"/>
            <a:ext cx="4008451" cy="353085"/>
          </a:xfrm>
          <a:prstGeom prst="leftRightArrow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3732B0-CD82-DD97-5AEB-23CCA2306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Embedded Debugging Works</a:t>
            </a:r>
            <a:endParaRPr lang="en-US" dirty="0"/>
          </a:p>
        </p:txBody>
      </p:sp>
      <p:sp>
        <p:nvSpPr>
          <p:cNvPr id="7" name="!!Debug Probe">
            <a:extLst>
              <a:ext uri="{FF2B5EF4-FFF2-40B4-BE49-F238E27FC236}">
                <a16:creationId xmlns:a16="http://schemas.microsoft.com/office/drawing/2014/main" id="{C2325D9A-47FD-8BA9-6404-B2E55165915B}"/>
              </a:ext>
            </a:extLst>
          </p:cNvPr>
          <p:cNvSpPr/>
          <p:nvPr/>
        </p:nvSpPr>
        <p:spPr>
          <a:xfrm>
            <a:off x="1234220" y="2697913"/>
            <a:ext cx="2924355" cy="1462177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Hardware Probe</a:t>
            </a:r>
          </a:p>
        </p:txBody>
      </p:sp>
      <p:sp>
        <p:nvSpPr>
          <p:cNvPr id="5" name="!!SWD_Text">
            <a:extLst>
              <a:ext uri="{FF2B5EF4-FFF2-40B4-BE49-F238E27FC236}">
                <a16:creationId xmlns:a16="http://schemas.microsoft.com/office/drawing/2014/main" id="{E088DBAC-6523-21AD-98F2-3F903C3288B2}"/>
              </a:ext>
            </a:extLst>
          </p:cNvPr>
          <p:cNvSpPr txBox="1"/>
          <p:nvPr/>
        </p:nvSpPr>
        <p:spPr>
          <a:xfrm>
            <a:off x="5464263" y="3242058"/>
            <a:ext cx="139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SWD/JTAG</a:t>
            </a:r>
          </a:p>
        </p:txBody>
      </p:sp>
      <p:sp>
        <p:nvSpPr>
          <p:cNvPr id="6" name="!!dbg_arch">
            <a:extLst>
              <a:ext uri="{FF2B5EF4-FFF2-40B4-BE49-F238E27FC236}">
                <a16:creationId xmlns:a16="http://schemas.microsoft.com/office/drawing/2014/main" id="{89DFA37F-358E-6C7E-4497-77651024FA6E}"/>
              </a:ext>
            </a:extLst>
          </p:cNvPr>
          <p:cNvSpPr/>
          <p:nvPr/>
        </p:nvSpPr>
        <p:spPr>
          <a:xfrm>
            <a:off x="8167026" y="2697911"/>
            <a:ext cx="2924355" cy="1462177"/>
          </a:xfrm>
          <a:prstGeom prst="roundRect">
            <a:avLst/>
          </a:prstGeom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STM32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DEC0F9-5C35-15A3-0FD0-FD8DE3E8C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  <p:sp>
        <p:nvSpPr>
          <p:cNvPr id="17" name="!!SWD">
            <a:extLst>
              <a:ext uri="{FF2B5EF4-FFF2-40B4-BE49-F238E27FC236}">
                <a16:creationId xmlns:a16="http://schemas.microsoft.com/office/drawing/2014/main" id="{3C4CEA28-82E1-F5D9-5773-D72D93743169}"/>
              </a:ext>
            </a:extLst>
          </p:cNvPr>
          <p:cNvSpPr/>
          <p:nvPr/>
        </p:nvSpPr>
        <p:spPr>
          <a:xfrm>
            <a:off x="4158575" y="3585520"/>
            <a:ext cx="4008451" cy="353085"/>
          </a:xfrm>
          <a:prstGeom prst="leftRightArrow">
            <a:avLst/>
          </a:prstGeom>
          <a:solidFill>
            <a:schemeClr val="accent2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0" name="!!SWD_Text">
            <a:extLst>
              <a:ext uri="{FF2B5EF4-FFF2-40B4-BE49-F238E27FC236}">
                <a16:creationId xmlns:a16="http://schemas.microsoft.com/office/drawing/2014/main" id="{D52795BE-DBD7-E4AE-4129-0E5004300548}"/>
              </a:ext>
            </a:extLst>
          </p:cNvPr>
          <p:cNvSpPr txBox="1"/>
          <p:nvPr/>
        </p:nvSpPr>
        <p:spPr>
          <a:xfrm>
            <a:off x="5464263" y="3938605"/>
            <a:ext cx="139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Trace Pins</a:t>
            </a:r>
          </a:p>
        </p:txBody>
      </p:sp>
    </p:spTree>
    <p:extLst>
      <p:ext uri="{BB962C8B-B14F-4D97-AF65-F5344CB8AC3E}">
        <p14:creationId xmlns:p14="http://schemas.microsoft.com/office/powerpoint/2010/main" val="520672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0B53E-68C1-0DE9-974E-B180E2B9D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E7F7C0-3CF9-ADE8-4C93-4C9D1289F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What is Trace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29EA82-56ED-01A1-A67A-10F9B90B2C1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858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4FC5F-41E1-79A8-4485-75D19FB18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420" y="2776537"/>
            <a:ext cx="11609159" cy="1304925"/>
          </a:xfrm>
        </p:spPr>
        <p:txBody>
          <a:bodyPr/>
          <a:lstStyle/>
          <a:p>
            <a:pPr algn="l"/>
            <a:r>
              <a:rPr lang="en-US" dirty="0"/>
              <a:t>To understand trace, we need to understand the different types of debugging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6E61F0-DE67-C787-D807-BD60B52CD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6183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B3804C-29D8-84F5-8CDC-B43F3E37B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89" y="2351088"/>
            <a:ext cx="5948362" cy="2154237"/>
          </a:xfrm>
        </p:spPr>
        <p:txBody>
          <a:bodyPr/>
          <a:lstStyle/>
          <a:p>
            <a:r>
              <a:rPr lang="en-US" dirty="0"/>
              <a:t>Setting Breakpoints</a:t>
            </a:r>
          </a:p>
          <a:p>
            <a:r>
              <a:rPr lang="en-US" dirty="0"/>
              <a:t>Reading and writing to memory</a:t>
            </a:r>
          </a:p>
          <a:p>
            <a:r>
              <a:rPr lang="en-US" dirty="0"/>
              <a:t>Changing execution flow</a:t>
            </a:r>
          </a:p>
          <a:p>
            <a:r>
              <a:rPr lang="en-US" dirty="0"/>
              <a:t>Halting and resetting the microcontroller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03B1FF-D253-FCFE-4A27-A8474E02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Typical debugging actions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B70B-C6D2-163D-9A75-C630F3305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  <p:sp>
        <p:nvSpPr>
          <p:cNvPr id="5" name="!!SepLine">
            <a:extLst>
              <a:ext uri="{FF2B5EF4-FFF2-40B4-BE49-F238E27FC236}">
                <a16:creationId xmlns:a16="http://schemas.microsoft.com/office/drawing/2014/main" id="{3D20B282-AEA4-17B9-8DD6-469138D24406}"/>
              </a:ext>
            </a:extLst>
          </p:cNvPr>
          <p:cNvSpPr/>
          <p:nvPr/>
        </p:nvSpPr>
        <p:spPr>
          <a:xfrm>
            <a:off x="7191375" y="2351088"/>
            <a:ext cx="1019175" cy="1944687"/>
          </a:xfrm>
          <a:prstGeom prst="rightBrace">
            <a:avLst>
              <a:gd name="adj1" fmla="val 47702"/>
              <a:gd name="adj2" fmla="val 50000"/>
            </a:avLst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52B3DE-34E1-E369-1F41-653276C70051}"/>
              </a:ext>
            </a:extLst>
          </p:cNvPr>
          <p:cNvSpPr txBox="1"/>
          <p:nvPr/>
        </p:nvSpPr>
        <p:spPr>
          <a:xfrm>
            <a:off x="8582025" y="3138765"/>
            <a:ext cx="2236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/>
              <a:t>Intrusive Debugging</a:t>
            </a:r>
          </a:p>
        </p:txBody>
      </p:sp>
    </p:spTree>
    <p:extLst>
      <p:ext uri="{BB962C8B-B14F-4D97-AF65-F5344CB8AC3E}">
        <p14:creationId xmlns:p14="http://schemas.microsoft.com/office/powerpoint/2010/main" val="31936264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5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2232B-B0DF-0F21-9A9C-A66F7729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D2A492-3B74-76F6-9347-BC86C3AC5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6" y="2055950"/>
            <a:ext cx="4938711" cy="2154237"/>
          </a:xfrm>
        </p:spPr>
        <p:txBody>
          <a:bodyPr/>
          <a:lstStyle/>
          <a:p>
            <a:r>
              <a:rPr lang="en-US" sz="2000" dirty="0"/>
              <a:t>Setting Breakpoints</a:t>
            </a:r>
          </a:p>
          <a:p>
            <a:r>
              <a:rPr lang="en-US" sz="2000" dirty="0"/>
              <a:t>Reading and writing to memory</a:t>
            </a:r>
          </a:p>
          <a:p>
            <a:r>
              <a:rPr lang="en-US" sz="2000" dirty="0"/>
              <a:t>Changing execution flow</a:t>
            </a:r>
          </a:p>
          <a:p>
            <a:r>
              <a:rPr lang="en-US" sz="2000" dirty="0"/>
              <a:t>Halting and resetting the microcontroller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836E213-52CB-872D-F09F-8DCA9CBA5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types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6A64F1-038D-D75D-4CCC-7BB5F1E0F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70BD58-8A92-6578-7FEB-B98690E9C5F3}"/>
              </a:ext>
            </a:extLst>
          </p:cNvPr>
          <p:cNvSpPr txBox="1"/>
          <p:nvPr/>
        </p:nvSpPr>
        <p:spPr>
          <a:xfrm>
            <a:off x="300036" y="1304924"/>
            <a:ext cx="38261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Intrusive Debugging</a:t>
            </a:r>
          </a:p>
        </p:txBody>
      </p:sp>
      <p:cxnSp>
        <p:nvCxnSpPr>
          <p:cNvPr id="8" name="!!SepLine">
            <a:extLst>
              <a:ext uri="{FF2B5EF4-FFF2-40B4-BE49-F238E27FC236}">
                <a16:creationId xmlns:a16="http://schemas.microsoft.com/office/drawing/2014/main" id="{31A76A92-8653-E788-5B27-8335404E5441}"/>
              </a:ext>
            </a:extLst>
          </p:cNvPr>
          <p:cNvCxnSpPr>
            <a:stCxn id="3" idx="2"/>
          </p:cNvCxnSpPr>
          <p:nvPr/>
        </p:nvCxnSpPr>
        <p:spPr>
          <a:xfrm flipH="1">
            <a:off x="6096000" y="1304924"/>
            <a:ext cx="8617" cy="4733926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9F1DEFF3-5FDB-E3EB-4D68-4839C68958D3}"/>
              </a:ext>
            </a:extLst>
          </p:cNvPr>
          <p:cNvSpPr txBox="1">
            <a:spLocks/>
          </p:cNvSpPr>
          <p:nvPr/>
        </p:nvSpPr>
        <p:spPr>
          <a:xfrm>
            <a:off x="6161423" y="2055950"/>
            <a:ext cx="4938711" cy="2154237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Sampling Program Counter value</a:t>
            </a:r>
          </a:p>
          <a:p>
            <a:r>
              <a:rPr lang="en-US" sz="2000" dirty="0"/>
              <a:t>Performance Counters</a:t>
            </a:r>
          </a:p>
          <a:p>
            <a:r>
              <a:rPr lang="en-US" sz="2000" dirty="0"/>
              <a:t>Checking Processor state</a:t>
            </a:r>
          </a:p>
          <a:p>
            <a:r>
              <a:rPr lang="en-US" sz="2000" dirty="0"/>
              <a:t>Capturing execution behavior </a:t>
            </a:r>
          </a:p>
        </p:txBody>
      </p:sp>
      <p:sp>
        <p:nvSpPr>
          <p:cNvPr id="10" name="!!NNB">
            <a:extLst>
              <a:ext uri="{FF2B5EF4-FFF2-40B4-BE49-F238E27FC236}">
                <a16:creationId xmlns:a16="http://schemas.microsoft.com/office/drawing/2014/main" id="{8C6596D8-A38C-03F0-7FD0-1AEE462E2D41}"/>
              </a:ext>
            </a:extLst>
          </p:cNvPr>
          <p:cNvSpPr txBox="1"/>
          <p:nvPr/>
        </p:nvSpPr>
        <p:spPr>
          <a:xfrm>
            <a:off x="6161423" y="1304924"/>
            <a:ext cx="4697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Non-Intrusive Debugging</a:t>
            </a:r>
          </a:p>
        </p:txBody>
      </p:sp>
    </p:spTree>
    <p:extLst>
      <p:ext uri="{BB962C8B-B14F-4D97-AF65-F5344CB8AC3E}">
        <p14:creationId xmlns:p14="http://schemas.microsoft.com/office/powerpoint/2010/main" val="622304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2E8894-72F1-0D76-2FB8-BBFD4F9DE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0FAF4-EFC5-C035-026A-2AD2EDEC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F62B816B-1613-91D3-37AE-177D67C506CD}"/>
              </a:ext>
            </a:extLst>
          </p:cNvPr>
          <p:cNvSpPr txBox="1">
            <a:spLocks/>
          </p:cNvSpPr>
          <p:nvPr/>
        </p:nvSpPr>
        <p:spPr>
          <a:xfrm>
            <a:off x="300037" y="3360876"/>
            <a:ext cx="8499246" cy="523220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Observing system behavior without modifying the state of the device</a:t>
            </a:r>
          </a:p>
        </p:txBody>
      </p:sp>
      <p:sp>
        <p:nvSpPr>
          <p:cNvPr id="10" name="!!NNB">
            <a:extLst>
              <a:ext uri="{FF2B5EF4-FFF2-40B4-BE49-F238E27FC236}">
                <a16:creationId xmlns:a16="http://schemas.microsoft.com/office/drawing/2014/main" id="{44513C8E-56E1-2960-8460-3027E54FC4D1}"/>
              </a:ext>
            </a:extLst>
          </p:cNvPr>
          <p:cNvSpPr txBox="1"/>
          <p:nvPr/>
        </p:nvSpPr>
        <p:spPr>
          <a:xfrm>
            <a:off x="300037" y="2609849"/>
            <a:ext cx="4510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Non-Intrusive Debugging</a:t>
            </a:r>
          </a:p>
        </p:txBody>
      </p:sp>
    </p:spTree>
    <p:extLst>
      <p:ext uri="{BB962C8B-B14F-4D97-AF65-F5344CB8AC3E}">
        <p14:creationId xmlns:p14="http://schemas.microsoft.com/office/powerpoint/2010/main" val="4306221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5058-6BE5-B4D1-1294-7554895BE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9615-A5BA-AF3F-590C-A43FA38F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13</a:t>
            </a:fld>
            <a:endParaRPr lang="en-US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D13178BA-B995-9482-E362-18C985190B26}"/>
              </a:ext>
            </a:extLst>
          </p:cNvPr>
          <p:cNvSpPr txBox="1">
            <a:spLocks/>
          </p:cNvSpPr>
          <p:nvPr/>
        </p:nvSpPr>
        <p:spPr>
          <a:xfrm>
            <a:off x="300037" y="3360876"/>
            <a:ext cx="8499246" cy="523220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>
            <a:lvl1pPr marL="261938" indent="-261938" algn="l" defTabSz="914400" rtl="0" eaLnBrk="1" latinLnBrk="0" hangingPunct="1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36575" indent="-2667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27305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87425" indent="-26828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160463" indent="-261938" algn="l" defTabSz="914400" rtl="0" eaLnBrk="1" latinLnBrk="0" hangingPunct="1">
              <a:lnSpc>
                <a:spcPct val="100000"/>
              </a:lnSpc>
              <a:spcBef>
                <a:spcPts val="4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lang="en-US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An example of that is: Tracing</a:t>
            </a:r>
          </a:p>
        </p:txBody>
      </p:sp>
      <p:sp>
        <p:nvSpPr>
          <p:cNvPr id="10" name="!!NNB">
            <a:extLst>
              <a:ext uri="{FF2B5EF4-FFF2-40B4-BE49-F238E27FC236}">
                <a16:creationId xmlns:a16="http://schemas.microsoft.com/office/drawing/2014/main" id="{E80CA226-555B-F68F-E04B-087C2C02408C}"/>
              </a:ext>
            </a:extLst>
          </p:cNvPr>
          <p:cNvSpPr txBox="1"/>
          <p:nvPr/>
        </p:nvSpPr>
        <p:spPr>
          <a:xfrm>
            <a:off x="300037" y="2609849"/>
            <a:ext cx="4510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Non-Intrusive Debugging</a:t>
            </a:r>
          </a:p>
        </p:txBody>
      </p:sp>
    </p:spTree>
    <p:extLst>
      <p:ext uri="{BB962C8B-B14F-4D97-AF65-F5344CB8AC3E}">
        <p14:creationId xmlns:p14="http://schemas.microsoft.com/office/powerpoint/2010/main" val="16400149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58B77-9108-0014-1639-7FF16017A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5BA0D-DFEE-6B7E-46AB-1C6FDC081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14</a:t>
            </a:fld>
            <a:endParaRPr lang="en-US"/>
          </a:p>
        </p:txBody>
      </p:sp>
      <p:sp>
        <p:nvSpPr>
          <p:cNvPr id="10" name="!!NNB">
            <a:extLst>
              <a:ext uri="{FF2B5EF4-FFF2-40B4-BE49-F238E27FC236}">
                <a16:creationId xmlns:a16="http://schemas.microsoft.com/office/drawing/2014/main" id="{FDA5A003-BC97-B43C-0E5B-697E261A9DE8}"/>
              </a:ext>
            </a:extLst>
          </p:cNvPr>
          <p:cNvSpPr txBox="1"/>
          <p:nvPr/>
        </p:nvSpPr>
        <p:spPr>
          <a:xfrm>
            <a:off x="1909761" y="2905780"/>
            <a:ext cx="7986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What do we have in STM32 Microcontrollers?</a:t>
            </a:r>
          </a:p>
        </p:txBody>
      </p:sp>
    </p:spTree>
    <p:extLst>
      <p:ext uri="{BB962C8B-B14F-4D97-AF65-F5344CB8AC3E}">
        <p14:creationId xmlns:p14="http://schemas.microsoft.com/office/powerpoint/2010/main" val="1218477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ADDEB-BFB6-5BF5-01FE-A4EF09B14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30C5A-47D7-47F6-FE3E-B479D23BC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Infrastructure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49C5EAE-70B9-941F-C847-5D1DA30D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15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999DB292-47D1-731F-593B-95169E719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42" y="1304924"/>
            <a:ext cx="7380347" cy="49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1914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30156-7268-4095-95F1-9D4F5B191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E14D9-0C47-5CF0-F281-6A7456A9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Infrastructure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6C22343-7EB8-EC0D-32F5-14669477F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16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8C9A0ED1-085D-9758-EF3C-0C06BDC288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67" b="60314"/>
          <a:stretch>
            <a:fillRect/>
          </a:stretch>
        </p:blipFill>
        <p:spPr>
          <a:xfrm>
            <a:off x="3842644" y="1706506"/>
            <a:ext cx="4885719" cy="372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3621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E48E5-7AD2-8035-6664-0CE57D5D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9C8D-7770-57DF-7A66-C4A6A9E50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Infrastructure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9326C01-3BD7-004F-57B7-15E313CC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17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EE232B69-E497-0AA8-5D58-4C7DFCB259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42" y="1304924"/>
            <a:ext cx="7380347" cy="49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747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7F718-AAE1-2018-E04D-317C22552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B2C13-2329-D3F8-C5DA-B21510DC7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 Sources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B5CEC8-8856-456E-55E2-C9F32097E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18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FB506CC0-7E38-DA5F-A4F3-7F52893C6F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43" t="11491" r="38477" b="44388"/>
          <a:stretch>
            <a:fillRect/>
          </a:stretch>
        </p:blipFill>
        <p:spPr>
          <a:xfrm>
            <a:off x="4294289" y="1304924"/>
            <a:ext cx="3620654" cy="43338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D4B8C3-5FE1-B43A-D71E-1C511CD1D933}"/>
              </a:ext>
            </a:extLst>
          </p:cNvPr>
          <p:cNvSpPr/>
          <p:nvPr/>
        </p:nvSpPr>
        <p:spPr>
          <a:xfrm>
            <a:off x="5347855" y="1671782"/>
            <a:ext cx="718126" cy="609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4D2D43-BEFC-445C-C8B4-A925C64C37BC}"/>
              </a:ext>
            </a:extLst>
          </p:cNvPr>
          <p:cNvSpPr/>
          <p:nvPr/>
        </p:nvSpPr>
        <p:spPr>
          <a:xfrm>
            <a:off x="7045657" y="1690255"/>
            <a:ext cx="679118" cy="609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A01A34-5F2D-9A05-B9A9-FCB661B01B1C}"/>
              </a:ext>
            </a:extLst>
          </p:cNvPr>
          <p:cNvSpPr/>
          <p:nvPr/>
        </p:nvSpPr>
        <p:spPr>
          <a:xfrm>
            <a:off x="6855157" y="4325505"/>
            <a:ext cx="964868" cy="57352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!!HWT">
            <a:extLst>
              <a:ext uri="{FF2B5EF4-FFF2-40B4-BE49-F238E27FC236}">
                <a16:creationId xmlns:a16="http://schemas.microsoft.com/office/drawing/2014/main" id="{C5CFD896-6222-202B-AD34-4ED07D4641BE}"/>
              </a:ext>
            </a:extLst>
          </p:cNvPr>
          <p:cNvSpPr txBox="1"/>
          <p:nvPr/>
        </p:nvSpPr>
        <p:spPr>
          <a:xfrm>
            <a:off x="151279" y="1542718"/>
            <a:ext cx="4143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/>
              <a:t>Generates trace for events such as: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How many extra cycles an instruction took to execute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How many cycle it took to enter/exit an exception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200" dirty="0"/>
              <a:t>How many cycles are spent in sleep mode</a:t>
            </a:r>
          </a:p>
        </p:txBody>
      </p:sp>
      <p:sp>
        <p:nvSpPr>
          <p:cNvPr id="9" name="!!SWT">
            <a:extLst>
              <a:ext uri="{FF2B5EF4-FFF2-40B4-BE49-F238E27FC236}">
                <a16:creationId xmlns:a16="http://schemas.microsoft.com/office/drawing/2014/main" id="{6E0621B8-C98E-0AE4-560F-8C7A74A4B684}"/>
              </a:ext>
            </a:extLst>
          </p:cNvPr>
          <p:cNvSpPr txBox="1"/>
          <p:nvPr/>
        </p:nvSpPr>
        <p:spPr>
          <a:xfrm>
            <a:off x="8010525" y="1542718"/>
            <a:ext cx="42425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Generates trace packets from multiple sources: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Software, this is useful for </a:t>
            </a:r>
            <a:r>
              <a:rPr lang="en-US" sz="1200" dirty="0" err="1"/>
              <a:t>printf</a:t>
            </a:r>
            <a:r>
              <a:rPr lang="en-US" sz="1200" dirty="0"/>
              <a:t> debugging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DWT events are propagated via the ITM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Timestamping locally from the ITM component or globally</a:t>
            </a:r>
          </a:p>
        </p:txBody>
      </p:sp>
      <p:sp>
        <p:nvSpPr>
          <p:cNvPr id="10" name="!!IT">
            <a:extLst>
              <a:ext uri="{FF2B5EF4-FFF2-40B4-BE49-F238E27FC236}">
                <a16:creationId xmlns:a16="http://schemas.microsoft.com/office/drawing/2014/main" id="{C799CA20-3430-7A28-5A76-C5C22D4BB23E}"/>
              </a:ext>
            </a:extLst>
          </p:cNvPr>
          <p:cNvSpPr txBox="1"/>
          <p:nvPr/>
        </p:nvSpPr>
        <p:spPr>
          <a:xfrm>
            <a:off x="8010525" y="4324693"/>
            <a:ext cx="40703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Generates trace packets related to core execution: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number of instructions executed in the same cycle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Changes in program flow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Conditional code information</a:t>
            </a:r>
          </a:p>
        </p:txBody>
      </p:sp>
    </p:spTree>
    <p:extLst>
      <p:ext uri="{BB962C8B-B14F-4D97-AF65-F5344CB8AC3E}">
        <p14:creationId xmlns:p14="http://schemas.microsoft.com/office/powerpoint/2010/main" val="3150554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/>
      <p:bldP spid="9" grpId="0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9069-956C-A8F8-644A-EBD80739C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103F-A36D-3D1F-8CB0-8EF607D4E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Infrastructure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186018C-776C-5505-359D-7592E4201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19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12187CD8-1421-3892-827A-5894E23EF6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743" t="11491" r="38477" b="44388"/>
          <a:stretch>
            <a:fillRect/>
          </a:stretch>
        </p:blipFill>
        <p:spPr>
          <a:xfrm>
            <a:off x="4294289" y="1304924"/>
            <a:ext cx="3620654" cy="43338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27B9C-4345-3F30-7BAC-38D60F71B669}"/>
              </a:ext>
            </a:extLst>
          </p:cNvPr>
          <p:cNvSpPr/>
          <p:nvPr/>
        </p:nvSpPr>
        <p:spPr>
          <a:xfrm>
            <a:off x="5347855" y="1671782"/>
            <a:ext cx="718126" cy="609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57BFA52-144E-C09D-B1C4-457373D0CB64}"/>
              </a:ext>
            </a:extLst>
          </p:cNvPr>
          <p:cNvSpPr/>
          <p:nvPr/>
        </p:nvSpPr>
        <p:spPr>
          <a:xfrm>
            <a:off x="7045657" y="1690255"/>
            <a:ext cx="679118" cy="60960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2E1000-414F-A31D-1CFE-C8900C9B2743}"/>
              </a:ext>
            </a:extLst>
          </p:cNvPr>
          <p:cNvSpPr/>
          <p:nvPr/>
        </p:nvSpPr>
        <p:spPr>
          <a:xfrm>
            <a:off x="6855157" y="4325505"/>
            <a:ext cx="964868" cy="573520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8" name="!!HWT">
            <a:extLst>
              <a:ext uri="{FF2B5EF4-FFF2-40B4-BE49-F238E27FC236}">
                <a16:creationId xmlns:a16="http://schemas.microsoft.com/office/drawing/2014/main" id="{C4935DAC-B77F-8B6A-4930-548EF25B6DBD}"/>
              </a:ext>
            </a:extLst>
          </p:cNvPr>
          <p:cNvSpPr txBox="1"/>
          <p:nvPr/>
        </p:nvSpPr>
        <p:spPr>
          <a:xfrm>
            <a:off x="913525" y="1552243"/>
            <a:ext cx="292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dirty="0"/>
              <a:t>Hardware Trace</a:t>
            </a:r>
          </a:p>
        </p:txBody>
      </p:sp>
      <p:sp>
        <p:nvSpPr>
          <p:cNvPr id="9" name="!!SWT">
            <a:extLst>
              <a:ext uri="{FF2B5EF4-FFF2-40B4-BE49-F238E27FC236}">
                <a16:creationId xmlns:a16="http://schemas.microsoft.com/office/drawing/2014/main" id="{0AB5E5F9-49FD-0AA1-D8D2-14838A74956F}"/>
              </a:ext>
            </a:extLst>
          </p:cNvPr>
          <p:cNvSpPr txBox="1"/>
          <p:nvPr/>
        </p:nvSpPr>
        <p:spPr>
          <a:xfrm>
            <a:off x="8372475" y="1671782"/>
            <a:ext cx="26030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/>
              <a:t>Software Trace</a:t>
            </a:r>
          </a:p>
        </p:txBody>
      </p:sp>
      <p:sp>
        <p:nvSpPr>
          <p:cNvPr id="10" name="!!IT">
            <a:extLst>
              <a:ext uri="{FF2B5EF4-FFF2-40B4-BE49-F238E27FC236}">
                <a16:creationId xmlns:a16="http://schemas.microsoft.com/office/drawing/2014/main" id="{D82D3557-7291-272A-5AC3-D1AD4F72FD1E}"/>
              </a:ext>
            </a:extLst>
          </p:cNvPr>
          <p:cNvSpPr txBox="1"/>
          <p:nvPr/>
        </p:nvSpPr>
        <p:spPr>
          <a:xfrm>
            <a:off x="8010525" y="4324693"/>
            <a:ext cx="2843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dirty="0"/>
              <a:t>Instruction Trace</a:t>
            </a:r>
          </a:p>
        </p:txBody>
      </p:sp>
    </p:spTree>
    <p:extLst>
      <p:ext uri="{BB962C8B-B14F-4D97-AF65-F5344CB8AC3E}">
        <p14:creationId xmlns:p14="http://schemas.microsoft.com/office/powerpoint/2010/main" val="22335549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76145-3C5C-7BD2-C0A8-FCEA73784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93509-2D68-0D74-5FD7-03615D611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20</a:t>
            </a:fld>
            <a:endParaRPr lang="en-US"/>
          </a:p>
        </p:txBody>
      </p:sp>
      <p:sp>
        <p:nvSpPr>
          <p:cNvPr id="10" name="!!NNB">
            <a:extLst>
              <a:ext uri="{FF2B5EF4-FFF2-40B4-BE49-F238E27FC236}">
                <a16:creationId xmlns:a16="http://schemas.microsoft.com/office/drawing/2014/main" id="{C92FDB5D-A01B-6BAD-1D1B-29A779923736}"/>
              </a:ext>
            </a:extLst>
          </p:cNvPr>
          <p:cNvSpPr txBox="1"/>
          <p:nvPr/>
        </p:nvSpPr>
        <p:spPr>
          <a:xfrm>
            <a:off x="3407568" y="2905780"/>
            <a:ext cx="53768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How can we get this data out?</a:t>
            </a:r>
          </a:p>
        </p:txBody>
      </p:sp>
    </p:spTree>
    <p:extLst>
      <p:ext uri="{BB962C8B-B14F-4D97-AF65-F5344CB8AC3E}">
        <p14:creationId xmlns:p14="http://schemas.microsoft.com/office/powerpoint/2010/main" val="3911153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01B5F-C0F5-3FF7-3136-06B85213F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00112-672B-8F20-005B-14351C42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 Infrastructure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444AB21-8D49-A175-2FC4-E14FA04BC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21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D82316CF-C113-5005-C709-A59DAFDC2B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442" y="1304924"/>
            <a:ext cx="7380347" cy="4961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60518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B4AAE-A13E-DA1E-1016-6EC2D08A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BB3EB-66C4-C90D-6E0B-4842581B7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 Sinks in STM32 MCUs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EDBDA62-AA4A-6508-B380-5C474818F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22</a:t>
            </a:fld>
            <a:endParaRPr lang="en-US"/>
          </a:p>
        </p:txBody>
      </p:sp>
      <p:pic>
        <p:nvPicPr>
          <p:cNvPr id="21" name="!!dbg_arch">
            <a:extLst>
              <a:ext uri="{FF2B5EF4-FFF2-40B4-BE49-F238E27FC236}">
                <a16:creationId xmlns:a16="http://schemas.microsoft.com/office/drawing/2014/main" id="{FADC87BD-6014-F11D-E098-98ADC3709F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407" t="59131" r="300" b="-23"/>
          <a:stretch>
            <a:fillRect/>
          </a:stretch>
        </p:blipFill>
        <p:spPr>
          <a:xfrm>
            <a:off x="5163127" y="1304924"/>
            <a:ext cx="6210588" cy="413454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848C447-CD18-AD7E-BF0D-D0CF2053747A}"/>
              </a:ext>
            </a:extLst>
          </p:cNvPr>
          <p:cNvSpPr/>
          <p:nvPr/>
        </p:nvSpPr>
        <p:spPr>
          <a:xfrm>
            <a:off x="7907842" y="2401714"/>
            <a:ext cx="809625" cy="607219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83F640-3E1D-8D0A-519B-B6C8F442E5A3}"/>
              </a:ext>
            </a:extLst>
          </p:cNvPr>
          <p:cNvSpPr/>
          <p:nvPr/>
        </p:nvSpPr>
        <p:spPr>
          <a:xfrm>
            <a:off x="5926642" y="4465464"/>
            <a:ext cx="1204913" cy="800894"/>
          </a:xfrm>
          <a:prstGeom prst="rect">
            <a:avLst/>
          </a:prstGeom>
          <a:noFill/>
          <a:ln w="38100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6" name="!!OCS">
            <a:extLst>
              <a:ext uri="{FF2B5EF4-FFF2-40B4-BE49-F238E27FC236}">
                <a16:creationId xmlns:a16="http://schemas.microsoft.com/office/drawing/2014/main" id="{C0F448AC-6497-E999-E2F7-ACEED5BABAA9}"/>
              </a:ext>
            </a:extLst>
          </p:cNvPr>
          <p:cNvSpPr txBox="1"/>
          <p:nvPr/>
        </p:nvSpPr>
        <p:spPr>
          <a:xfrm>
            <a:off x="200286" y="2058992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1" dirty="0"/>
              <a:t>Off Chip Solutions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281AD9-73D9-96C6-980E-5BD3950BE1FE}"/>
              </a:ext>
            </a:extLst>
          </p:cNvPr>
          <p:cNvSpPr/>
          <p:nvPr/>
        </p:nvSpPr>
        <p:spPr>
          <a:xfrm>
            <a:off x="5926641" y="3071021"/>
            <a:ext cx="1204913" cy="800893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!!TMC">
            <a:extLst>
              <a:ext uri="{FF2B5EF4-FFF2-40B4-BE49-F238E27FC236}">
                <a16:creationId xmlns:a16="http://schemas.microsoft.com/office/drawing/2014/main" id="{D13C83D3-201D-F819-0F23-DFC538787A3D}"/>
              </a:ext>
            </a:extLst>
          </p:cNvPr>
          <p:cNvSpPr txBox="1"/>
          <p:nvPr/>
        </p:nvSpPr>
        <p:spPr>
          <a:xfrm>
            <a:off x="300037" y="3871914"/>
            <a:ext cx="4863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dirty="0"/>
              <a:t>On Chip Solutions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EB46F8-1247-FC8F-9D2F-5DF4D28C825B}"/>
              </a:ext>
            </a:extLst>
          </p:cNvPr>
          <p:cNvSpPr txBox="1"/>
          <p:nvPr/>
        </p:nvSpPr>
        <p:spPr>
          <a:xfrm>
            <a:off x="200286" y="2428324"/>
            <a:ext cx="4613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Transmit the trace data over dedicated pins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F77F27-CDAD-B3F6-A253-E7DDEABA09DE}"/>
              </a:ext>
            </a:extLst>
          </p:cNvPr>
          <p:cNvSpPr txBox="1"/>
          <p:nvPr/>
        </p:nvSpPr>
        <p:spPr>
          <a:xfrm>
            <a:off x="200285" y="4292352"/>
            <a:ext cx="49628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Store the trace data in dedicated memory inside the chip</a:t>
            </a:r>
          </a:p>
          <a:p>
            <a:pPr algn="l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1330348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/>
      <p:bldP spid="7" grpId="0" animBg="1"/>
      <p:bldP spid="12" grpId="0"/>
      <p:bldP spid="13" grpId="0"/>
      <p:bldP spid="1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140C-BAB8-AC8D-D104-902B44A2F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CE47-E6E4-D51E-7297-66B72434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 Sinks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CA51F97-2EA6-B7BC-920D-2996EBC33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23</a:t>
            </a:fld>
            <a:endParaRPr lang="en-US"/>
          </a:p>
        </p:txBody>
      </p:sp>
      <p:sp>
        <p:nvSpPr>
          <p:cNvPr id="6" name="!!OCS">
            <a:extLst>
              <a:ext uri="{FF2B5EF4-FFF2-40B4-BE49-F238E27FC236}">
                <a16:creationId xmlns:a16="http://schemas.microsoft.com/office/drawing/2014/main" id="{1B3050A7-2609-F606-7DED-934554219DB8}"/>
              </a:ext>
            </a:extLst>
          </p:cNvPr>
          <p:cNvSpPr txBox="1"/>
          <p:nvPr/>
        </p:nvSpPr>
        <p:spPr>
          <a:xfrm>
            <a:off x="200285" y="2058992"/>
            <a:ext cx="46118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Off Chip Solutions</a:t>
            </a:r>
          </a:p>
        </p:txBody>
      </p:sp>
      <p:sp>
        <p:nvSpPr>
          <p:cNvPr id="12" name="!!TMC">
            <a:extLst>
              <a:ext uri="{FF2B5EF4-FFF2-40B4-BE49-F238E27FC236}">
                <a16:creationId xmlns:a16="http://schemas.microsoft.com/office/drawing/2014/main" id="{EE403D11-5603-AD71-7E74-DBDABF8519A4}"/>
              </a:ext>
            </a:extLst>
          </p:cNvPr>
          <p:cNvSpPr txBox="1"/>
          <p:nvPr/>
        </p:nvSpPr>
        <p:spPr>
          <a:xfrm>
            <a:off x="6747171" y="2058992"/>
            <a:ext cx="48630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800" b="1" dirty="0"/>
              <a:t>On Chip Solutions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5149AED-0344-B68E-C77A-8F21B7009011}"/>
              </a:ext>
            </a:extLst>
          </p:cNvPr>
          <p:cNvCxnSpPr>
            <a:cxnSpLocks/>
          </p:cNvCxnSpPr>
          <p:nvPr/>
        </p:nvCxnSpPr>
        <p:spPr>
          <a:xfrm>
            <a:off x="6096000" y="2243658"/>
            <a:ext cx="0" cy="3898524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7ED3856-D3B2-D0E3-3F3B-2ED83D6C0C56}"/>
              </a:ext>
            </a:extLst>
          </p:cNvPr>
          <p:cNvSpPr txBox="1"/>
          <p:nvPr/>
        </p:nvSpPr>
        <p:spPr>
          <a:xfrm>
            <a:off x="200285" y="2798618"/>
            <a:ext cx="57438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Allows to virtually store an infinite amount of trace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Guarantees that the trace data is output in real-time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08CE6C-5208-2E2B-B5D6-27D8FF96211A}"/>
              </a:ext>
            </a:extLst>
          </p:cNvPr>
          <p:cNvSpPr txBox="1"/>
          <p:nvPr/>
        </p:nvSpPr>
        <p:spPr>
          <a:xfrm>
            <a:off x="6104616" y="2689949"/>
            <a:ext cx="59362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Guarantees that no data is lost due to high bandwidth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Can be extracted after the data was generated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A665C54-EE5F-D7DC-6961-54F50599B379}"/>
              </a:ext>
            </a:extLst>
          </p:cNvPr>
          <p:cNvSpPr txBox="1"/>
          <p:nvPr/>
        </p:nvSpPr>
        <p:spPr>
          <a:xfrm>
            <a:off x="200285" y="4192920"/>
            <a:ext cx="589571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Requires dedicated pins that can’t be used by the application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Requires extra hardware to capture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4195DA-9F80-F836-6D8E-244D082E5225}"/>
              </a:ext>
            </a:extLst>
          </p:cNvPr>
          <p:cNvSpPr txBox="1"/>
          <p:nvPr/>
        </p:nvSpPr>
        <p:spPr>
          <a:xfrm>
            <a:off x="6095998" y="4192920"/>
            <a:ext cx="59448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Very small buffer size, cannot capture large sessions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2"/>
                </a:solidFill>
              </a:rPr>
              <a:t>Can potentially stall the core</a:t>
            </a:r>
          </a:p>
        </p:txBody>
      </p:sp>
    </p:spTree>
    <p:extLst>
      <p:ext uri="{BB962C8B-B14F-4D97-AF65-F5344CB8AC3E}">
        <p14:creationId xmlns:p14="http://schemas.microsoft.com/office/powerpoint/2010/main" val="24696395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7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E54742-BED7-F480-04DA-AB101834B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A69226-0F30-C9E4-6F24-742F2696463C}"/>
              </a:ext>
            </a:extLst>
          </p:cNvPr>
          <p:cNvSpPr txBox="1"/>
          <p:nvPr/>
        </p:nvSpPr>
        <p:spPr>
          <a:xfrm>
            <a:off x="-4416" y="2951946"/>
            <a:ext cx="121964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All the Debug &amp; Trace components in STM32 MCUs are provided by Arm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/>
              <a:t>The debug solution provided by Arm is named “</a:t>
            </a:r>
            <a:r>
              <a:rPr lang="en-US" sz="2800" dirty="0" err="1"/>
              <a:t>CoreSight</a:t>
            </a:r>
            <a:r>
              <a:rPr lang="en-US" sz="28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098289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1500-26AE-81BF-CABB-C4ED530F5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Path of Trace Data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1F0845-E36E-FC76-509C-35AFAADD2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6D65558-A6F5-CA40-D7BE-D2A32D034C4C}"/>
              </a:ext>
            </a:extLst>
          </p:cNvPr>
          <p:cNvSpPr/>
          <p:nvPr/>
        </p:nvSpPr>
        <p:spPr>
          <a:xfrm>
            <a:off x="300037" y="3013364"/>
            <a:ext cx="1838036" cy="8312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Core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FC3298D-DBAE-C24A-C7D3-733A2E6F430A}"/>
              </a:ext>
            </a:extLst>
          </p:cNvPr>
          <p:cNvSpPr/>
          <p:nvPr/>
        </p:nvSpPr>
        <p:spPr>
          <a:xfrm>
            <a:off x="2669164" y="3013364"/>
            <a:ext cx="1838036" cy="8312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ETM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416CDC1-E023-FE0C-E016-953CEC311E50}"/>
              </a:ext>
            </a:extLst>
          </p:cNvPr>
          <p:cNvSpPr/>
          <p:nvPr/>
        </p:nvSpPr>
        <p:spPr>
          <a:xfrm>
            <a:off x="5038291" y="3013364"/>
            <a:ext cx="1838036" cy="8312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TMC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BF2F1F-BBB9-E90B-5155-76F6AF9A8D24}"/>
              </a:ext>
            </a:extLst>
          </p:cNvPr>
          <p:cNvSpPr/>
          <p:nvPr/>
        </p:nvSpPr>
        <p:spPr>
          <a:xfrm>
            <a:off x="7407418" y="3013364"/>
            <a:ext cx="1838036" cy="8312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Hardware Probe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75A8B8A-38A8-A261-1F26-EE240BBC267E}"/>
              </a:ext>
            </a:extLst>
          </p:cNvPr>
          <p:cNvSpPr/>
          <p:nvPr/>
        </p:nvSpPr>
        <p:spPr>
          <a:xfrm>
            <a:off x="9772225" y="3013364"/>
            <a:ext cx="1838036" cy="83127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Debugger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A314B6F-8137-C9D9-7D3D-92BBD3E81781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2138073" y="3429000"/>
            <a:ext cx="531091" cy="0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3CDD5D1-6D34-33D9-24B3-C8AA28FCD3DE}"/>
              </a:ext>
            </a:extLst>
          </p:cNvPr>
          <p:cNvCxnSpPr/>
          <p:nvPr/>
        </p:nvCxnSpPr>
        <p:spPr>
          <a:xfrm>
            <a:off x="4507200" y="3429000"/>
            <a:ext cx="531091" cy="0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8408B4-306E-56A7-3FAD-D3ADB601B8DA}"/>
              </a:ext>
            </a:extLst>
          </p:cNvPr>
          <p:cNvCxnSpPr/>
          <p:nvPr/>
        </p:nvCxnSpPr>
        <p:spPr>
          <a:xfrm>
            <a:off x="6876327" y="3429000"/>
            <a:ext cx="531091" cy="0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643A717-74B2-2F70-964F-FD17428EEBD5}"/>
              </a:ext>
            </a:extLst>
          </p:cNvPr>
          <p:cNvCxnSpPr/>
          <p:nvPr/>
        </p:nvCxnSpPr>
        <p:spPr>
          <a:xfrm>
            <a:off x="9241134" y="3429000"/>
            <a:ext cx="531091" cy="0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9B8694A-8EEA-D56E-6D64-9C859C21D4DA}"/>
              </a:ext>
            </a:extLst>
          </p:cNvPr>
          <p:cNvSpPr txBox="1"/>
          <p:nvPr/>
        </p:nvSpPr>
        <p:spPr>
          <a:xfrm>
            <a:off x="479109" y="2576946"/>
            <a:ext cx="1479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Executing normally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A41F0B-588B-4254-082D-36170DE80B5B}"/>
              </a:ext>
            </a:extLst>
          </p:cNvPr>
          <p:cNvSpPr txBox="1"/>
          <p:nvPr/>
        </p:nvSpPr>
        <p:spPr>
          <a:xfrm>
            <a:off x="2843916" y="1838279"/>
            <a:ext cx="14798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Captures execution flow information and generates instruction trace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8FFDF1-0799-157C-C516-64B9ADFADC69}"/>
              </a:ext>
            </a:extLst>
          </p:cNvPr>
          <p:cNvSpPr txBox="1"/>
          <p:nvPr/>
        </p:nvSpPr>
        <p:spPr>
          <a:xfrm>
            <a:off x="5217363" y="2576944"/>
            <a:ext cx="15327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Captures trace data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C3B483-B95C-F16F-9AFC-88E1B930E118}"/>
              </a:ext>
            </a:extLst>
          </p:cNvPr>
          <p:cNvSpPr txBox="1"/>
          <p:nvPr/>
        </p:nvSpPr>
        <p:spPr>
          <a:xfrm>
            <a:off x="7560040" y="2022945"/>
            <a:ext cx="1532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Reads Trace data from the TMC and sends it to the debugger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17D9FE8-EA34-59E1-4F2F-ACE488DFA938}"/>
              </a:ext>
            </a:extLst>
          </p:cNvPr>
          <p:cNvSpPr txBox="1"/>
          <p:nvPr/>
        </p:nvSpPr>
        <p:spPr>
          <a:xfrm>
            <a:off x="9715078" y="2576943"/>
            <a:ext cx="19523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Processes the Trace Data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8EABF61-AA40-71B0-B425-8278D7070E16}"/>
              </a:ext>
            </a:extLst>
          </p:cNvPr>
          <p:cNvSpPr txBox="1"/>
          <p:nvPr/>
        </p:nvSpPr>
        <p:spPr>
          <a:xfrm>
            <a:off x="4554019" y="3182779"/>
            <a:ext cx="4331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/>
              <a:t>ATB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9250DCE-CC91-C84D-76A1-2E3E8F47A5EC}"/>
              </a:ext>
            </a:extLst>
          </p:cNvPr>
          <p:cNvSpPr txBox="1"/>
          <p:nvPr/>
        </p:nvSpPr>
        <p:spPr>
          <a:xfrm>
            <a:off x="6923146" y="3182778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/>
              <a:t>DAP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4291D45-BB8F-F079-CD7F-5AB5EFA8F17F}"/>
              </a:ext>
            </a:extLst>
          </p:cNvPr>
          <p:cNvSpPr txBox="1"/>
          <p:nvPr/>
        </p:nvSpPr>
        <p:spPr>
          <a:xfrm>
            <a:off x="9281946" y="3182777"/>
            <a:ext cx="4475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000" dirty="0"/>
              <a:t>USB</a:t>
            </a:r>
          </a:p>
        </p:txBody>
      </p:sp>
    </p:spTree>
    <p:extLst>
      <p:ext uri="{BB962C8B-B14F-4D97-AF65-F5344CB8AC3E}">
        <p14:creationId xmlns:p14="http://schemas.microsoft.com/office/powerpoint/2010/main" val="5207988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8" grpId="0"/>
      <p:bldP spid="20" grpId="0"/>
      <p:bldP spid="22" grpId="0"/>
      <p:bldP spid="24" grpId="0"/>
      <p:bldP spid="26" grpId="0"/>
      <p:bldP spid="27" grpId="0"/>
      <p:bldP spid="29" grpId="0"/>
      <p:bldP spid="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97E60-CE3D-B181-8D76-51EBB4AB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93B0C-C14E-46C8-7EEF-BFF3C0BE1DEB}"/>
              </a:ext>
            </a:extLst>
          </p:cNvPr>
          <p:cNvSpPr txBox="1"/>
          <p:nvPr/>
        </p:nvSpPr>
        <p:spPr>
          <a:xfrm>
            <a:off x="3024908" y="3044279"/>
            <a:ext cx="6142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dirty="0"/>
              <a:t>Why is Trace useful?</a:t>
            </a:r>
          </a:p>
        </p:txBody>
      </p:sp>
    </p:spTree>
    <p:extLst>
      <p:ext uri="{BB962C8B-B14F-4D97-AF65-F5344CB8AC3E}">
        <p14:creationId xmlns:p14="http://schemas.microsoft.com/office/powerpoint/2010/main" val="35156677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891A7-DC57-42DC-E1A3-AF1DFE5D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85D4D50-AABD-310C-9896-24B170DA3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48817C-9F31-D55F-E40E-8D222887F413}"/>
              </a:ext>
            </a:extLst>
          </p:cNvPr>
          <p:cNvSpPr txBox="1"/>
          <p:nvPr/>
        </p:nvSpPr>
        <p:spPr>
          <a:xfrm>
            <a:off x="286324" y="855261"/>
            <a:ext cx="61421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400" b="1" dirty="0"/>
              <a:t>Why is Trace useful?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17A1D8CF-7F13-36FC-98D5-2630A81FC8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8623434"/>
              </p:ext>
            </p:extLst>
          </p:nvPr>
        </p:nvGraphicFramePr>
        <p:xfrm>
          <a:off x="286324" y="2806229"/>
          <a:ext cx="11307647" cy="2803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225D0B5-56EE-896E-5B31-054D330CC653}"/>
              </a:ext>
            </a:extLst>
          </p:cNvPr>
          <p:cNvSpPr txBox="1"/>
          <p:nvPr/>
        </p:nvSpPr>
        <p:spPr>
          <a:xfrm>
            <a:off x="302614" y="1892300"/>
            <a:ext cx="11307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Besides the fact that it doesn’t alter the system’s behavior, so we get an accurate picture of what’s happening</a:t>
            </a:r>
          </a:p>
          <a:p>
            <a:pPr algn="l"/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31672921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21F2014-629A-41FC-AD89-64384474DC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graphicEl>
                                              <a:dgm id="{321F2014-629A-41FC-AD89-64384474DC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41C232-44AD-4F72-9F44-E216CF665D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graphicEl>
                                              <a:dgm id="{7C41C232-44AD-4F72-9F44-E216CF665D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4CA2774-2FF9-49C4-B2EA-4479E28BCD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graphicEl>
                                              <a:dgm id="{14CA2774-2FF9-49C4-B2EA-4479E28BCD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6F847FA5-1DC2-4F8D-8486-12A0DAACC1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graphicEl>
                                              <a:dgm id="{6F847FA5-1DC2-4F8D-8486-12A0DAACC18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580874EB-A328-4037-835C-7D195E2EEF4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graphicEl>
                                              <a:dgm id="{580874EB-A328-4037-835C-7D195E2EEF4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2562D3B-4FE2-4CA4-B209-261F78F8474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graphicEl>
                                              <a:dgm id="{C2562D3B-4FE2-4CA4-B209-261F78F8474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  <p:bldP spid="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8B955-07E9-B211-0217-CED76F44C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1FBA3-B864-B3D3-3E78-8342C435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56AE80-2D32-FAF2-245B-0AF15F8D6C0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230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32EC-3A2C-E38E-BD96-68D2DAF1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Trace Today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F28E26-50D3-59F3-9112-04E0835A3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29</a:t>
            </a:fld>
            <a:endParaRPr lang="en-US"/>
          </a:p>
        </p:txBody>
      </p:sp>
      <p:sp>
        <p:nvSpPr>
          <p:cNvPr id="5" name="Google Shape;259;p27">
            <a:extLst>
              <a:ext uri="{FF2B5EF4-FFF2-40B4-BE49-F238E27FC236}">
                <a16:creationId xmlns:a16="http://schemas.microsoft.com/office/drawing/2014/main" id="{A74AD91E-D922-BED6-59E1-2C7F7691C84B}"/>
              </a:ext>
            </a:extLst>
          </p:cNvPr>
          <p:cNvSpPr/>
          <p:nvPr/>
        </p:nvSpPr>
        <p:spPr>
          <a:xfrm>
            <a:off x="975207" y="2011680"/>
            <a:ext cx="420624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</a:t>
            </a:r>
            <a:endParaRPr/>
          </a:p>
        </p:txBody>
      </p:sp>
      <p:sp>
        <p:nvSpPr>
          <p:cNvPr id="7" name="Google Shape;260;p27">
            <a:extLst>
              <a:ext uri="{FF2B5EF4-FFF2-40B4-BE49-F238E27FC236}">
                <a16:creationId xmlns:a16="http://schemas.microsoft.com/office/drawing/2014/main" id="{1DD48E19-7AA0-B1C5-F22F-1D9908DA81CB}"/>
              </a:ext>
            </a:extLst>
          </p:cNvPr>
          <p:cNvSpPr/>
          <p:nvPr/>
        </p:nvSpPr>
        <p:spPr>
          <a:xfrm>
            <a:off x="5181447" y="2011680"/>
            <a:ext cx="6035040" cy="822960"/>
          </a:xfrm>
          <a:prstGeom prst="rect">
            <a:avLst/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Probes with Supported Trace</a:t>
            </a:r>
            <a:endParaRPr/>
          </a:p>
        </p:txBody>
      </p:sp>
      <p:sp>
        <p:nvSpPr>
          <p:cNvPr id="9" name="Google Shape;261;p27">
            <a:extLst>
              <a:ext uri="{FF2B5EF4-FFF2-40B4-BE49-F238E27FC236}">
                <a16:creationId xmlns:a16="http://schemas.microsoft.com/office/drawing/2014/main" id="{68450FC9-4C79-348E-DC25-6CA161A0E0AC}"/>
              </a:ext>
            </a:extLst>
          </p:cNvPr>
          <p:cNvSpPr/>
          <p:nvPr/>
        </p:nvSpPr>
        <p:spPr>
          <a:xfrm>
            <a:off x="975207" y="2834640"/>
            <a:ext cx="4206240" cy="82296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IAR</a:t>
            </a:r>
            <a:endParaRPr/>
          </a:p>
        </p:txBody>
      </p:sp>
      <p:sp>
        <p:nvSpPr>
          <p:cNvPr id="11" name="Google Shape;262;p27">
            <a:extLst>
              <a:ext uri="{FF2B5EF4-FFF2-40B4-BE49-F238E27FC236}">
                <a16:creationId xmlns:a16="http://schemas.microsoft.com/office/drawing/2014/main" id="{EEB2FCA1-60CB-7B68-419B-6549D92A8DA9}"/>
              </a:ext>
            </a:extLst>
          </p:cNvPr>
          <p:cNvSpPr/>
          <p:nvPr/>
        </p:nvSpPr>
        <p:spPr>
          <a:xfrm>
            <a:off x="5181447" y="2834640"/>
            <a:ext cx="6035040" cy="82296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I-Jet/J-Trace (Partially)</a:t>
            </a:r>
            <a:endParaRPr dirty="0"/>
          </a:p>
        </p:txBody>
      </p:sp>
      <p:sp>
        <p:nvSpPr>
          <p:cNvPr id="13" name="Google Shape;263;p27">
            <a:extLst>
              <a:ext uri="{FF2B5EF4-FFF2-40B4-BE49-F238E27FC236}">
                <a16:creationId xmlns:a16="http://schemas.microsoft.com/office/drawing/2014/main" id="{0E4780C9-01F0-2B88-6607-9172D0274147}"/>
              </a:ext>
            </a:extLst>
          </p:cNvPr>
          <p:cNvSpPr/>
          <p:nvPr/>
        </p:nvSpPr>
        <p:spPr>
          <a:xfrm>
            <a:off x="975207" y="3657600"/>
            <a:ext cx="4206240" cy="822960"/>
          </a:xfrm>
          <a:prstGeom prst="rect">
            <a:avLst/>
          </a:prstGeom>
          <a:solidFill>
            <a:srgbClr val="C6D0DB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Keil Uvision</a:t>
            </a:r>
            <a:endParaRPr/>
          </a:p>
        </p:txBody>
      </p:sp>
      <p:sp>
        <p:nvSpPr>
          <p:cNvPr id="15" name="Google Shape;264;p27">
            <a:extLst>
              <a:ext uri="{FF2B5EF4-FFF2-40B4-BE49-F238E27FC236}">
                <a16:creationId xmlns:a16="http://schemas.microsoft.com/office/drawing/2014/main" id="{C45A77E5-BE22-4F2E-413D-52ED613C5F4F}"/>
              </a:ext>
            </a:extLst>
          </p:cNvPr>
          <p:cNvSpPr/>
          <p:nvPr/>
        </p:nvSpPr>
        <p:spPr>
          <a:xfrm>
            <a:off x="5181447" y="3657600"/>
            <a:ext cx="6035040" cy="822960"/>
          </a:xfrm>
          <a:prstGeom prst="rect">
            <a:avLst/>
          </a:prstGeom>
          <a:solidFill>
            <a:srgbClr val="C6D0DB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 err="1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ULinkPro</a:t>
            </a:r>
            <a:r>
              <a:rPr lang="en-US" sz="1400" b="0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J-Trace</a:t>
            </a:r>
            <a:endParaRPr dirty="0"/>
          </a:p>
        </p:txBody>
      </p:sp>
      <p:sp>
        <p:nvSpPr>
          <p:cNvPr id="17" name="Google Shape;265;p27">
            <a:extLst>
              <a:ext uri="{FF2B5EF4-FFF2-40B4-BE49-F238E27FC236}">
                <a16:creationId xmlns:a16="http://schemas.microsoft.com/office/drawing/2014/main" id="{5E7E607C-8239-2CE8-D452-5F6DAE1B4BE5}"/>
              </a:ext>
            </a:extLst>
          </p:cNvPr>
          <p:cNvSpPr/>
          <p:nvPr/>
        </p:nvSpPr>
        <p:spPr>
          <a:xfrm>
            <a:off x="975207" y="4480560"/>
            <a:ext cx="4206240" cy="82296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Open-Source tools (</a:t>
            </a:r>
            <a:r>
              <a:rPr lang="en-US" sz="1400" b="0" i="0" u="none" strike="noStrike" cap="none" dirty="0" err="1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openocd</a:t>
            </a:r>
            <a:r>
              <a:rPr lang="en-US" sz="1400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</a:t>
            </a:r>
            <a:r>
              <a:rPr lang="en-US" sz="1400" dirty="0" err="1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pyOCD</a:t>
            </a:r>
            <a:r>
              <a:rPr lang="en-US" sz="1400" b="0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dirty="0"/>
          </a:p>
        </p:txBody>
      </p:sp>
      <p:sp>
        <p:nvSpPr>
          <p:cNvPr id="19" name="Google Shape;266;p27">
            <a:extLst>
              <a:ext uri="{FF2B5EF4-FFF2-40B4-BE49-F238E27FC236}">
                <a16:creationId xmlns:a16="http://schemas.microsoft.com/office/drawing/2014/main" id="{B51865E5-2EE6-EB89-6F22-75DCAD6B2E49}"/>
              </a:ext>
            </a:extLst>
          </p:cNvPr>
          <p:cNvSpPr/>
          <p:nvPr/>
        </p:nvSpPr>
        <p:spPr>
          <a:xfrm>
            <a:off x="5181447" y="4480560"/>
            <a:ext cx="6035040" cy="822960"/>
          </a:xfrm>
          <a:prstGeom prst="rect">
            <a:avLst/>
          </a:prstGeom>
          <a:solidFill>
            <a:srgbClr val="FFFFFF"/>
          </a:solidFill>
          <a:ln w="15875" cap="flat" cmpd="sng">
            <a:solidFill>
              <a:srgbClr val="FFC72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none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7908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DBD204B-D524-C0DC-440A-2617F83E6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037" y="2688720"/>
            <a:ext cx="8419089" cy="1480560"/>
          </a:xfrm>
        </p:spPr>
        <p:txBody>
          <a:bodyPr/>
          <a:lstStyle/>
          <a:p>
            <a:r>
              <a:rPr lang="en-US" dirty="0"/>
              <a:t>Trace needs a dedicated hardware probe per IDE</a:t>
            </a:r>
          </a:p>
          <a:p>
            <a:r>
              <a:rPr lang="en-US" dirty="0"/>
              <a:t>IDEs don’t support the full capabilities of trace components</a:t>
            </a:r>
          </a:p>
          <a:p>
            <a:r>
              <a:rPr lang="en-US" dirty="0"/>
              <a:t>No trace decoding is possible outside of a debug session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87292B-D0B7-8850-59CA-7D7854F61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Gaps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E52B5-01AE-8B07-D9D0-D012F64C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5264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A1FBF-A1FF-B5DB-8849-DA3AFD49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110D79-BD30-0005-49D9-4EE6C0743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B79DD9-86FD-902E-14BA-57E051D7EEB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250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368E0A0-B0FA-A985-C7F3-1A11FE5F5D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5338076"/>
              </p:ext>
            </p:extLst>
          </p:nvPr>
        </p:nvGraphicFramePr>
        <p:xfrm>
          <a:off x="300038" y="1484313"/>
          <a:ext cx="11591925" cy="46085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610D7A9-DBDC-4C89-1CC0-F8DE2C6A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Solution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93B0A6-704E-5074-2F8A-F4379AE1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32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3F98494-F067-4267-B7DA-DC7C3BAE08A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03F98494-F067-4267-B7DA-DC7C3BAE08A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083D98F-216B-4B7A-963D-BEE409D7CD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C083D98F-216B-4B7A-963D-BEE409D7CD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49AE5D8-5B21-412B-8B1B-BA915CAA86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F49AE5D8-5B21-412B-8B1B-BA915CAA867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54D07D-8693-172C-A1DB-8EB01278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33</a:t>
            </a:fld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49ECBB-BDA6-8630-2CCE-75B498167F13}"/>
              </a:ext>
            </a:extLst>
          </p:cNvPr>
          <p:cNvSpPr txBox="1"/>
          <p:nvPr/>
        </p:nvSpPr>
        <p:spPr>
          <a:xfrm>
            <a:off x="641851" y="3136612"/>
            <a:ext cx="109082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3200" dirty="0"/>
              <a:t>How is it different from available solutions?</a:t>
            </a:r>
          </a:p>
        </p:txBody>
      </p:sp>
    </p:spTree>
    <p:extLst>
      <p:ext uri="{BB962C8B-B14F-4D97-AF65-F5344CB8AC3E}">
        <p14:creationId xmlns:p14="http://schemas.microsoft.com/office/powerpoint/2010/main" val="6134722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DDE704-9158-502F-137D-15A3A534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is based on open-source software:</a:t>
            </a:r>
          </a:p>
          <a:p>
            <a:pPr lvl="1"/>
            <a:r>
              <a:rPr lang="en-US" dirty="0"/>
              <a:t>Extending </a:t>
            </a:r>
            <a:r>
              <a:rPr lang="en-US" dirty="0" err="1"/>
              <a:t>openocd</a:t>
            </a:r>
            <a:r>
              <a:rPr lang="en-US" dirty="0"/>
              <a:t> with trace component modules</a:t>
            </a:r>
          </a:p>
          <a:p>
            <a:pPr lvl="1"/>
            <a:r>
              <a:rPr lang="en-US" dirty="0"/>
              <a:t>Implements trace processing using </a:t>
            </a:r>
            <a:r>
              <a:rPr lang="en-US" dirty="0" err="1"/>
              <a:t>OpenCSD</a:t>
            </a:r>
            <a:endParaRPr lang="en-US" dirty="0"/>
          </a:p>
          <a:p>
            <a:pPr lvl="1"/>
            <a:r>
              <a:rPr lang="en-US" dirty="0"/>
              <a:t>Makes use of LLVM and LLDB for generating useful information for trace analysis</a:t>
            </a:r>
          </a:p>
          <a:p>
            <a:r>
              <a:rPr lang="en-US" dirty="0"/>
              <a:t>It doesn’t need an active debug session to decode Trace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446A3B-AD3D-AB22-B152-356591AD6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new debugger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FDE2E-3BE0-BEB6-E208-1B316AE07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804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CE9F-5444-D3D9-76C1-6FF257D5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7124F8-EABB-D151-034C-7D4B7C697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Debugger Architecture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EB4A71-43BD-9D06-3AFC-0E22D83E7A4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312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rrow: Right 10">
            <a:extLst>
              <a:ext uri="{FF2B5EF4-FFF2-40B4-BE49-F238E27FC236}">
                <a16:creationId xmlns:a16="http://schemas.microsoft.com/office/drawing/2014/main" id="{65C15A43-88EC-8B0F-EC85-FF55D149EA64}"/>
              </a:ext>
            </a:extLst>
          </p:cNvPr>
          <p:cNvSpPr/>
          <p:nvPr/>
        </p:nvSpPr>
        <p:spPr>
          <a:xfrm rot="13739235" flipH="1">
            <a:off x="6456164" y="2591557"/>
            <a:ext cx="1432795" cy="29335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924F567-AEA8-1EE8-C60B-526D3BF0A0A6}"/>
              </a:ext>
            </a:extLst>
          </p:cNvPr>
          <p:cNvSpPr/>
          <p:nvPr/>
        </p:nvSpPr>
        <p:spPr>
          <a:xfrm rot="7860765">
            <a:off x="4302736" y="2591556"/>
            <a:ext cx="1432795" cy="293356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A646FA-0774-A33C-1E24-7BD1A1AD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Debugger Has Two Jobs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0CD324-0D2E-AFAF-A43A-8AE4CAA55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36</a:t>
            </a:fld>
            <a:endParaRPr lang="en-US"/>
          </a:p>
        </p:txBody>
      </p:sp>
      <p:sp>
        <p:nvSpPr>
          <p:cNvPr id="4" name="Google Shape;294;p30">
            <a:extLst>
              <a:ext uri="{FF2B5EF4-FFF2-40B4-BE49-F238E27FC236}">
                <a16:creationId xmlns:a16="http://schemas.microsoft.com/office/drawing/2014/main" id="{EA86FC9B-4BDD-3EB1-DFC0-1D8D45D83D3B}"/>
              </a:ext>
            </a:extLst>
          </p:cNvPr>
          <p:cNvSpPr/>
          <p:nvPr/>
        </p:nvSpPr>
        <p:spPr>
          <a:xfrm>
            <a:off x="4724247" y="1737360"/>
            <a:ext cx="2743200" cy="77724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Debugger</a:t>
            </a:r>
            <a:endParaRPr dirty="0"/>
          </a:p>
        </p:txBody>
      </p:sp>
      <p:sp>
        <p:nvSpPr>
          <p:cNvPr id="5" name="Google Shape;295;p30">
            <a:extLst>
              <a:ext uri="{FF2B5EF4-FFF2-40B4-BE49-F238E27FC236}">
                <a16:creationId xmlns:a16="http://schemas.microsoft.com/office/drawing/2014/main" id="{FB5A3F88-72F8-FF35-EB02-723BE319EE4A}"/>
              </a:ext>
            </a:extLst>
          </p:cNvPr>
          <p:cNvSpPr/>
          <p:nvPr/>
        </p:nvSpPr>
        <p:spPr>
          <a:xfrm>
            <a:off x="1463040" y="3291840"/>
            <a:ext cx="3840480" cy="105156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Talk to the Probe</a:t>
            </a:r>
            <a:endParaRPr/>
          </a:p>
        </p:txBody>
      </p:sp>
      <p:sp>
        <p:nvSpPr>
          <p:cNvPr id="6" name="Google Shape;296;p30">
            <a:extLst>
              <a:ext uri="{FF2B5EF4-FFF2-40B4-BE49-F238E27FC236}">
                <a16:creationId xmlns:a16="http://schemas.microsoft.com/office/drawing/2014/main" id="{49975C73-D91A-8E4F-AB06-3820E15DA8B7}"/>
              </a:ext>
            </a:extLst>
          </p:cNvPr>
          <p:cNvSpPr/>
          <p:nvPr/>
        </p:nvSpPr>
        <p:spPr>
          <a:xfrm>
            <a:off x="6888175" y="3291840"/>
            <a:ext cx="3840480" cy="105156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Talk to the User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3571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9" grpId="0" animBg="1"/>
      <p:bldP spid="4" grpId="0" animBg="1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9FAF-B1FB-EF1D-7D32-CCD41477D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AF80D-29F3-D4C0-EDA7-AEFD0C1B4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F0FC3A-6947-E6AE-C9AC-72C874920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37</a:t>
            </a:fld>
            <a:endParaRPr lang="en-US"/>
          </a:p>
        </p:txBody>
      </p:sp>
      <p:sp>
        <p:nvSpPr>
          <p:cNvPr id="4" name="Google Shape;306;p31">
            <a:extLst>
              <a:ext uri="{FF2B5EF4-FFF2-40B4-BE49-F238E27FC236}">
                <a16:creationId xmlns:a16="http://schemas.microsoft.com/office/drawing/2014/main" id="{E9B315CD-0488-7658-FEB0-9B583442DAD2}"/>
              </a:ext>
            </a:extLst>
          </p:cNvPr>
          <p:cNvSpPr/>
          <p:nvPr/>
        </p:nvSpPr>
        <p:spPr>
          <a:xfrm>
            <a:off x="1066647" y="2834640"/>
            <a:ext cx="2743200" cy="9144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</a:t>
            </a:r>
            <a:endParaRPr/>
          </a:p>
        </p:txBody>
      </p:sp>
      <p:sp>
        <p:nvSpPr>
          <p:cNvPr id="5" name="Google Shape;307;p31">
            <a:extLst>
              <a:ext uri="{FF2B5EF4-FFF2-40B4-BE49-F238E27FC236}">
                <a16:creationId xmlns:a16="http://schemas.microsoft.com/office/drawing/2014/main" id="{EAA05EFF-4534-1B74-5F86-E7524B9F882D}"/>
              </a:ext>
            </a:extLst>
          </p:cNvPr>
          <p:cNvSpPr/>
          <p:nvPr/>
        </p:nvSpPr>
        <p:spPr>
          <a:xfrm>
            <a:off x="4724247" y="2834640"/>
            <a:ext cx="2743200" cy="9144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UI</a:t>
            </a:r>
            <a:endParaRPr/>
          </a:p>
        </p:txBody>
      </p:sp>
      <p:sp>
        <p:nvSpPr>
          <p:cNvPr id="6" name="Google Shape;308;p31">
            <a:extLst>
              <a:ext uri="{FF2B5EF4-FFF2-40B4-BE49-F238E27FC236}">
                <a16:creationId xmlns:a16="http://schemas.microsoft.com/office/drawing/2014/main" id="{4ED2006A-137E-840D-0A04-676C62B6F777}"/>
              </a:ext>
            </a:extLst>
          </p:cNvPr>
          <p:cNvSpPr/>
          <p:nvPr/>
        </p:nvSpPr>
        <p:spPr>
          <a:xfrm>
            <a:off x="8381847" y="2834640"/>
            <a:ext cx="2743200" cy="9144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Debugger Core</a:t>
            </a:r>
            <a:endParaRPr dirty="0"/>
          </a:p>
        </p:txBody>
      </p:sp>
      <p:cxnSp>
        <p:nvCxnSpPr>
          <p:cNvPr id="7" name="Google Shape;309;p31">
            <a:extLst>
              <a:ext uri="{FF2B5EF4-FFF2-40B4-BE49-F238E27FC236}">
                <a16:creationId xmlns:a16="http://schemas.microsoft.com/office/drawing/2014/main" id="{76F78FA9-3B24-2C46-B756-53457EA064CA}"/>
              </a:ext>
            </a:extLst>
          </p:cNvPr>
          <p:cNvCxnSpPr/>
          <p:nvPr/>
        </p:nvCxnSpPr>
        <p:spPr>
          <a:xfrm>
            <a:off x="3809847" y="3291840"/>
            <a:ext cx="914400" cy="0"/>
          </a:xfrm>
          <a:prstGeom prst="straightConnector1">
            <a:avLst/>
          </a:prstGeom>
          <a:noFill/>
          <a:ln w="57150" cap="flat" cmpd="sng">
            <a:solidFill>
              <a:srgbClr val="FFC72C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" name="Google Shape;310;p31">
            <a:extLst>
              <a:ext uri="{FF2B5EF4-FFF2-40B4-BE49-F238E27FC236}">
                <a16:creationId xmlns:a16="http://schemas.microsoft.com/office/drawing/2014/main" id="{1EDFC738-01F4-EEFF-9C69-30878D160F34}"/>
              </a:ext>
            </a:extLst>
          </p:cNvPr>
          <p:cNvCxnSpPr/>
          <p:nvPr/>
        </p:nvCxnSpPr>
        <p:spPr>
          <a:xfrm>
            <a:off x="7467447" y="3291840"/>
            <a:ext cx="914400" cy="0"/>
          </a:xfrm>
          <a:prstGeom prst="straightConnector1">
            <a:avLst/>
          </a:prstGeom>
          <a:noFill/>
          <a:ln w="57150" cap="flat" cmpd="sng">
            <a:solidFill>
              <a:srgbClr val="FFC72C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" name="Google Shape;311;p31">
            <a:extLst>
              <a:ext uri="{FF2B5EF4-FFF2-40B4-BE49-F238E27FC236}">
                <a16:creationId xmlns:a16="http://schemas.microsoft.com/office/drawing/2014/main" id="{22418FFF-4EFB-9594-4EC2-E829B3573E51}"/>
              </a:ext>
            </a:extLst>
          </p:cNvPr>
          <p:cNvSpPr txBox="1"/>
          <p:nvPr/>
        </p:nvSpPr>
        <p:spPr>
          <a:xfrm>
            <a:off x="7187970" y="2329062"/>
            <a:ext cx="1473353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Communicates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Over DAP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6D47F8-42F1-8FDB-8540-0B622A72F91A}"/>
              </a:ext>
            </a:extLst>
          </p:cNvPr>
          <p:cNvSpPr txBox="1"/>
          <p:nvPr/>
        </p:nvSpPr>
        <p:spPr>
          <a:xfrm>
            <a:off x="845471" y="5442824"/>
            <a:ext cx="3185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Dap: Debug Adapter Protocol</a:t>
            </a:r>
          </a:p>
        </p:txBody>
      </p:sp>
    </p:spTree>
    <p:extLst>
      <p:ext uri="{BB962C8B-B14F-4D97-AF65-F5344CB8AC3E}">
        <p14:creationId xmlns:p14="http://schemas.microsoft.com/office/powerpoint/2010/main" val="2384435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9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335E4-F057-2713-338A-C8DA75914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the Debugger’s 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FD131B-8CF8-D998-5E3B-E22DC36E8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38</a:t>
            </a:fld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7FEC932-9C10-0643-F3A1-1D781B18100B}"/>
              </a:ext>
            </a:extLst>
          </p:cNvPr>
          <p:cNvSpPr/>
          <p:nvPr/>
        </p:nvSpPr>
        <p:spPr>
          <a:xfrm>
            <a:off x="5149273" y="1289048"/>
            <a:ext cx="1893454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Transport Layer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E142A02-3200-07C7-3FCA-8682E0C36944}"/>
              </a:ext>
            </a:extLst>
          </p:cNvPr>
          <p:cNvSpPr/>
          <p:nvPr/>
        </p:nvSpPr>
        <p:spPr>
          <a:xfrm>
            <a:off x="5287818" y="1954066"/>
            <a:ext cx="341745" cy="655782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BA7D5DAF-1340-C165-595B-7AD78E7D3483}"/>
              </a:ext>
            </a:extLst>
          </p:cNvPr>
          <p:cNvSpPr/>
          <p:nvPr/>
        </p:nvSpPr>
        <p:spPr>
          <a:xfrm rot="10800000">
            <a:off x="5629563" y="1954066"/>
            <a:ext cx="341745" cy="655782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9BD9B057-7164-8986-230B-7892566A5CF6}"/>
              </a:ext>
            </a:extLst>
          </p:cNvPr>
          <p:cNvSpPr/>
          <p:nvPr/>
        </p:nvSpPr>
        <p:spPr>
          <a:xfrm rot="10800000">
            <a:off x="6557818" y="1938191"/>
            <a:ext cx="341745" cy="655782"/>
          </a:xfrm>
          <a:prstGeom prst="down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6A7901-47B9-046D-0078-598AF11E6E5E}"/>
              </a:ext>
            </a:extLst>
          </p:cNvPr>
          <p:cNvSpPr txBox="1"/>
          <p:nvPr/>
        </p:nvSpPr>
        <p:spPr>
          <a:xfrm>
            <a:off x="4212231" y="2051124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Requests &amp;</a:t>
            </a:r>
          </a:p>
          <a:p>
            <a:pPr algn="l"/>
            <a:r>
              <a:rPr lang="en-US" sz="1200" dirty="0"/>
              <a:t>Responses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1F6D2-58ED-28FD-082C-EA4DB6FAC438}"/>
              </a:ext>
            </a:extLst>
          </p:cNvPr>
          <p:cNvSpPr txBox="1"/>
          <p:nvPr/>
        </p:nvSpPr>
        <p:spPr>
          <a:xfrm>
            <a:off x="6899563" y="2127582"/>
            <a:ext cx="6543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Events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7D8535-E40D-9817-F197-42CFFA1B126C}"/>
              </a:ext>
            </a:extLst>
          </p:cNvPr>
          <p:cNvSpPr txBox="1"/>
          <p:nvPr/>
        </p:nvSpPr>
        <p:spPr>
          <a:xfrm>
            <a:off x="3350456" y="1289048"/>
            <a:ext cx="17235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Communicates</a:t>
            </a:r>
          </a:p>
          <a:p>
            <a:pPr algn="ctr"/>
            <a:r>
              <a:rPr lang="en-US" dirty="0"/>
              <a:t>With the UI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911F08-44DC-1C74-413C-1EED945466E4}"/>
              </a:ext>
            </a:extLst>
          </p:cNvPr>
          <p:cNvSpPr txBox="1"/>
          <p:nvPr/>
        </p:nvSpPr>
        <p:spPr>
          <a:xfrm>
            <a:off x="7038109" y="2621896"/>
            <a:ext cx="39934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Serialize/Deserialize messages</a:t>
            </a:r>
          </a:p>
          <a:p>
            <a:pPr algn="ctr"/>
            <a:r>
              <a:rPr lang="en-US" dirty="0"/>
              <a:t>&amp; dispatches the appropriate handler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9ECC751-A8EA-5E0E-E136-17227B0C25E4}"/>
              </a:ext>
            </a:extLst>
          </p:cNvPr>
          <p:cNvSpPr/>
          <p:nvPr/>
        </p:nvSpPr>
        <p:spPr>
          <a:xfrm>
            <a:off x="2265938" y="3953993"/>
            <a:ext cx="2053653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Device Manager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67E4F61-2171-CDF7-3DFF-36B25644F668}"/>
              </a:ext>
            </a:extLst>
          </p:cNvPr>
          <p:cNvSpPr/>
          <p:nvPr/>
        </p:nvSpPr>
        <p:spPr>
          <a:xfrm>
            <a:off x="7863173" y="3953993"/>
            <a:ext cx="2053654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Memory Manager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8D2EEDE-888F-6093-B9DA-0791FC321057}"/>
              </a:ext>
            </a:extLst>
          </p:cNvPr>
          <p:cNvCxnSpPr>
            <a:stCxn id="13" idx="2"/>
            <a:endCxn id="27" idx="0"/>
          </p:cNvCxnSpPr>
          <p:nvPr/>
        </p:nvCxnSpPr>
        <p:spPr>
          <a:xfrm flipH="1">
            <a:off x="3292765" y="3268227"/>
            <a:ext cx="2798617" cy="68576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3FE6E43-7518-EB25-60F4-C968BBDBF9D6}"/>
              </a:ext>
            </a:extLst>
          </p:cNvPr>
          <p:cNvSpPr/>
          <p:nvPr/>
        </p:nvSpPr>
        <p:spPr>
          <a:xfrm>
            <a:off x="5144655" y="3953993"/>
            <a:ext cx="1893454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Trace Manager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DC0FBF32-CBCA-60A3-65F2-152BAE3375A2}"/>
              </a:ext>
            </a:extLst>
          </p:cNvPr>
          <p:cNvCxnSpPr>
            <a:stCxn id="13" idx="2"/>
            <a:endCxn id="29" idx="0"/>
          </p:cNvCxnSpPr>
          <p:nvPr/>
        </p:nvCxnSpPr>
        <p:spPr>
          <a:xfrm>
            <a:off x="6091382" y="3268227"/>
            <a:ext cx="2798618" cy="68576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E3E477F-E4D8-DBA2-5064-CA3969833648}"/>
              </a:ext>
            </a:extLst>
          </p:cNvPr>
          <p:cNvCxnSpPr>
            <a:stCxn id="13" idx="2"/>
            <a:endCxn id="31" idx="0"/>
          </p:cNvCxnSpPr>
          <p:nvPr/>
        </p:nvCxnSpPr>
        <p:spPr>
          <a:xfrm>
            <a:off x="6091382" y="3268227"/>
            <a:ext cx="0" cy="685766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C49B383-246B-80D9-FD37-8D4CBB5E9035}"/>
              </a:ext>
            </a:extLst>
          </p:cNvPr>
          <p:cNvSpPr/>
          <p:nvPr/>
        </p:nvSpPr>
        <p:spPr>
          <a:xfrm>
            <a:off x="5144655" y="2603209"/>
            <a:ext cx="1893454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Orchestrator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EF93D7-D9FC-A186-5B23-89504CFFAE07}"/>
              </a:ext>
            </a:extLst>
          </p:cNvPr>
          <p:cNvSpPr txBox="1"/>
          <p:nvPr/>
        </p:nvSpPr>
        <p:spPr>
          <a:xfrm>
            <a:off x="10092532" y="3972680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Handles Memory</a:t>
            </a:r>
          </a:p>
          <a:p>
            <a:pPr algn="ctr"/>
            <a:r>
              <a:rPr lang="en-US" dirty="0"/>
              <a:t>Operations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FAB114-014A-2865-B3C3-A9A0DAC201C6}"/>
              </a:ext>
            </a:extLst>
          </p:cNvPr>
          <p:cNvSpPr txBox="1"/>
          <p:nvPr/>
        </p:nvSpPr>
        <p:spPr>
          <a:xfrm>
            <a:off x="315388" y="3953993"/>
            <a:ext cx="1620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Handles MCU</a:t>
            </a:r>
          </a:p>
          <a:p>
            <a:pPr algn="ctr"/>
            <a:r>
              <a:rPr lang="en-US" dirty="0"/>
              <a:t>State</a:t>
            </a:r>
          </a:p>
        </p:txBody>
      </p:sp>
    </p:spTree>
    <p:extLst>
      <p:ext uri="{BB962C8B-B14F-4D97-AF65-F5344CB8AC3E}">
        <p14:creationId xmlns:p14="http://schemas.microsoft.com/office/powerpoint/2010/main" val="144317104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4" grpId="0"/>
      <p:bldP spid="15" grpId="0"/>
      <p:bldP spid="17" grpId="0"/>
      <p:bldP spid="18" grpId="0"/>
      <p:bldP spid="27" grpId="0" animBg="1"/>
      <p:bldP spid="29" grpId="0" animBg="1"/>
      <p:bldP spid="31" grpId="0" animBg="1"/>
      <p:bldP spid="13" grpId="0" animBg="1"/>
      <p:bldP spid="39" grpId="0"/>
      <p:bldP spid="4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7BB7-0857-AF60-F430-A99F54878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C3BEC077-3723-3C36-91C8-52ADE8291F58}"/>
              </a:ext>
            </a:extLst>
          </p:cNvPr>
          <p:cNvCxnSpPr>
            <a:stCxn id="31" idx="2"/>
            <a:endCxn id="32" idx="0"/>
          </p:cNvCxnSpPr>
          <p:nvPr/>
        </p:nvCxnSpPr>
        <p:spPr>
          <a:xfrm flipH="1">
            <a:off x="3962400" y="2532062"/>
            <a:ext cx="2142216" cy="1227139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D04899-D5EE-B304-CC74-CDEE59C67A76}"/>
              </a:ext>
            </a:extLst>
          </p:cNvPr>
          <p:cNvCxnSpPr>
            <a:stCxn id="31" idx="2"/>
            <a:endCxn id="36" idx="0"/>
          </p:cNvCxnSpPr>
          <p:nvPr/>
        </p:nvCxnSpPr>
        <p:spPr>
          <a:xfrm>
            <a:off x="6104616" y="2532062"/>
            <a:ext cx="2133600" cy="1227139"/>
          </a:xfrm>
          <a:prstGeom prst="straightConnector1">
            <a:avLst/>
          </a:prstGeom>
          <a:ln w="38100">
            <a:solidFill>
              <a:schemeClr val="accent4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26DB6A4-9B6D-56C8-2E80-832C75737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Inside the Debugger’s Core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857411-40A8-1CE3-6317-9821D05DE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39</a:t>
            </a:fld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ACA02E-7BD4-7AB8-080B-C3F13C4CC8F3}"/>
              </a:ext>
            </a:extLst>
          </p:cNvPr>
          <p:cNvSpPr/>
          <p:nvPr/>
        </p:nvSpPr>
        <p:spPr>
          <a:xfrm>
            <a:off x="5157889" y="1867044"/>
            <a:ext cx="1893454" cy="665018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Trace Manager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8544E7F-F721-4C07-B087-5FD4CE2560D8}"/>
              </a:ext>
            </a:extLst>
          </p:cNvPr>
          <p:cNvSpPr/>
          <p:nvPr/>
        </p:nvSpPr>
        <p:spPr>
          <a:xfrm>
            <a:off x="2775527" y="3759201"/>
            <a:ext cx="2373746" cy="9513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Setup Trace Extraction infrastructure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26EA90E-07B2-157D-CCA7-F5C8FCE8CF13}"/>
              </a:ext>
            </a:extLst>
          </p:cNvPr>
          <p:cNvSpPr/>
          <p:nvPr/>
        </p:nvSpPr>
        <p:spPr>
          <a:xfrm>
            <a:off x="7051343" y="3759201"/>
            <a:ext cx="2373746" cy="951345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Process the generated Trace</a:t>
            </a:r>
          </a:p>
        </p:txBody>
      </p:sp>
    </p:spTree>
    <p:extLst>
      <p:ext uri="{BB962C8B-B14F-4D97-AF65-F5344CB8AC3E}">
        <p14:creationId xmlns:p14="http://schemas.microsoft.com/office/powerpoint/2010/main" val="22360974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6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964B2-6E4C-D0C4-6FB3-A750F4413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DA28434-8BB5-AAFB-44AD-568EB8129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Trace Extraction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A55060-249D-CE3E-A628-B6A38A9265A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11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2E6C37-9506-7D84-9E4A-7AB181B9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71" y="2965811"/>
            <a:ext cx="11591925" cy="926378"/>
          </a:xfrm>
        </p:spPr>
        <p:txBody>
          <a:bodyPr/>
          <a:lstStyle/>
          <a:p>
            <a:r>
              <a:rPr lang="en-US" dirty="0"/>
              <a:t>The infrastructure that handles device communication is built on top of </a:t>
            </a:r>
            <a:r>
              <a:rPr lang="en-US" dirty="0" err="1"/>
              <a:t>openocd</a:t>
            </a:r>
            <a:r>
              <a:rPr lang="en-US" dirty="0"/>
              <a:t> so it’s worth it to take a look at how </a:t>
            </a:r>
            <a:r>
              <a:rPr lang="en-US" dirty="0" err="1"/>
              <a:t>OpenOCD</a:t>
            </a:r>
            <a:r>
              <a:rPr lang="en-US" dirty="0"/>
              <a:t> operates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B0FEAB4-A2F1-458B-6595-1691DF600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Integrating </a:t>
            </a:r>
            <a:r>
              <a:rPr lang="en-US" dirty="0" err="1"/>
              <a:t>OpenOCD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78F76-8525-6EA5-84D7-7561E69E5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49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41DA2-A4AA-9878-71BC-B0823A3B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848B392-CF77-4F10-B0FA-2B42FEA6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OpenOCD</a:t>
            </a:r>
            <a:r>
              <a:rPr lang="en-US" dirty="0"/>
              <a:t> Architecture for Cortex-M devices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3D653-1C4F-0CA2-8447-C1130507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42</a:t>
            </a:fld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D7718FC-E256-9595-AC7B-9AD91A22E7E1}"/>
              </a:ext>
            </a:extLst>
          </p:cNvPr>
          <p:cNvSpPr/>
          <p:nvPr/>
        </p:nvSpPr>
        <p:spPr>
          <a:xfrm>
            <a:off x="5019343" y="1505527"/>
            <a:ext cx="2170545" cy="8405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Target Model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DBF4010-985A-DC1C-2986-3DBAC7B98D75}"/>
              </a:ext>
            </a:extLst>
          </p:cNvPr>
          <p:cNvSpPr/>
          <p:nvPr/>
        </p:nvSpPr>
        <p:spPr>
          <a:xfrm>
            <a:off x="5019343" y="2727036"/>
            <a:ext cx="2170545" cy="8405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Debug Interface Layer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BDED4F1-0A0A-C3A3-D4EF-96054B85D85F}"/>
              </a:ext>
            </a:extLst>
          </p:cNvPr>
          <p:cNvSpPr/>
          <p:nvPr/>
        </p:nvSpPr>
        <p:spPr>
          <a:xfrm>
            <a:off x="5019343" y="3948545"/>
            <a:ext cx="2170545" cy="8405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Debug Adapter Layer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F6D42BC-49F3-CE1A-E895-74A47E9F7A7A}"/>
              </a:ext>
            </a:extLst>
          </p:cNvPr>
          <p:cNvSpPr/>
          <p:nvPr/>
        </p:nvSpPr>
        <p:spPr>
          <a:xfrm>
            <a:off x="5019343" y="5170054"/>
            <a:ext cx="2170545" cy="840509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dirty="0"/>
              <a:t>Hardware Probe Driver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CCDD68C-2A97-33F3-9966-F8696E86C30B}"/>
              </a:ext>
            </a:extLst>
          </p:cNvPr>
          <p:cNvCxnSpPr>
            <a:stCxn id="24" idx="2"/>
            <a:endCxn id="26" idx="0"/>
          </p:cNvCxnSpPr>
          <p:nvPr/>
        </p:nvCxnSpPr>
        <p:spPr>
          <a:xfrm>
            <a:off x="6104616" y="2346036"/>
            <a:ext cx="0" cy="381000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0E030CA-382E-DAEF-9D80-2139AD4E28FB}"/>
              </a:ext>
            </a:extLst>
          </p:cNvPr>
          <p:cNvCxnSpPr/>
          <p:nvPr/>
        </p:nvCxnSpPr>
        <p:spPr>
          <a:xfrm>
            <a:off x="6096000" y="3567545"/>
            <a:ext cx="0" cy="381000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DC4EE57-79F7-B50F-702E-959F1527DBAB}"/>
              </a:ext>
            </a:extLst>
          </p:cNvPr>
          <p:cNvCxnSpPr/>
          <p:nvPr/>
        </p:nvCxnSpPr>
        <p:spPr>
          <a:xfrm>
            <a:off x="6127086" y="4789054"/>
            <a:ext cx="0" cy="381000"/>
          </a:xfrm>
          <a:prstGeom prst="straightConnector1">
            <a:avLst/>
          </a:prstGeom>
          <a:ln w="38100">
            <a:solidFill>
              <a:schemeClr val="accent4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F023F7A-0C8A-A949-3CF1-57848415835D}"/>
              </a:ext>
            </a:extLst>
          </p:cNvPr>
          <p:cNvSpPr txBox="1"/>
          <p:nvPr/>
        </p:nvSpPr>
        <p:spPr>
          <a:xfrm>
            <a:off x="7189888" y="1602615"/>
            <a:ext cx="4040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Represents the device in software</a:t>
            </a:r>
          </a:p>
          <a:p>
            <a:pPr algn="ctr"/>
            <a:r>
              <a:rPr lang="en-US" dirty="0"/>
              <a:t>Via components: e.g. core, flash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D52DE1-4781-F2B4-1CD0-21A440768847}"/>
              </a:ext>
            </a:extLst>
          </p:cNvPr>
          <p:cNvSpPr txBox="1"/>
          <p:nvPr/>
        </p:nvSpPr>
        <p:spPr>
          <a:xfrm>
            <a:off x="7809769" y="2824124"/>
            <a:ext cx="28007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Software abstraction over</a:t>
            </a:r>
          </a:p>
          <a:p>
            <a:pPr algn="ctr"/>
            <a:r>
              <a:rPr lang="en-US" dirty="0"/>
              <a:t>The Arm Debug Interface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B802EEA-19EB-AAD6-AED2-04ABAA2DEC44}"/>
              </a:ext>
            </a:extLst>
          </p:cNvPr>
          <p:cNvSpPr txBox="1"/>
          <p:nvPr/>
        </p:nvSpPr>
        <p:spPr>
          <a:xfrm>
            <a:off x="7670852" y="4184133"/>
            <a:ext cx="3078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SWD/JTAG protocol handler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3FE1AB-C343-5F34-763D-CA8D1EC117EA}"/>
              </a:ext>
            </a:extLst>
          </p:cNvPr>
          <p:cNvSpPr txBox="1"/>
          <p:nvPr/>
        </p:nvSpPr>
        <p:spPr>
          <a:xfrm>
            <a:off x="8021332" y="5405642"/>
            <a:ext cx="2377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ST-Link, J-Link,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793A904-F95E-4411-C87D-D8CFEE19025D}"/>
              </a:ext>
            </a:extLst>
          </p:cNvPr>
          <p:cNvSpPr txBox="1"/>
          <p:nvPr/>
        </p:nvSpPr>
        <p:spPr>
          <a:xfrm>
            <a:off x="2059709" y="1741114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chemeClr val="accent2"/>
                </a:solidFill>
              </a:rPr>
              <a:t>Our additions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2DEA59C-83E5-39E0-FF0E-65E314556A6C}"/>
              </a:ext>
            </a:extLst>
          </p:cNvPr>
          <p:cNvCxnSpPr>
            <a:stCxn id="42" idx="3"/>
            <a:endCxn id="24" idx="1"/>
          </p:cNvCxnSpPr>
          <p:nvPr/>
        </p:nvCxnSpPr>
        <p:spPr>
          <a:xfrm>
            <a:off x="3616545" y="1925780"/>
            <a:ext cx="1402798" cy="2"/>
          </a:xfrm>
          <a:prstGeom prst="straightConnector1">
            <a:avLst/>
          </a:prstGeom>
          <a:ln w="28575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EA72958C-970B-A356-CCAF-11877D749FA7}"/>
              </a:ext>
            </a:extLst>
          </p:cNvPr>
          <p:cNvSpPr/>
          <p:nvPr/>
        </p:nvSpPr>
        <p:spPr>
          <a:xfrm>
            <a:off x="4692072" y="1315029"/>
            <a:ext cx="822037" cy="420251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dirty="0"/>
              <a:t>New +</a:t>
            </a:r>
          </a:p>
        </p:txBody>
      </p:sp>
    </p:spTree>
    <p:extLst>
      <p:ext uri="{BB962C8B-B14F-4D97-AF65-F5344CB8AC3E}">
        <p14:creationId xmlns:p14="http://schemas.microsoft.com/office/powerpoint/2010/main" val="38622648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 animBg="1"/>
      <p:bldP spid="28" grpId="0" animBg="1"/>
      <p:bldP spid="30" grpId="0" animBg="1"/>
      <p:bldP spid="37" grpId="0"/>
      <p:bldP spid="38" grpId="0"/>
      <p:bldP spid="39" grpId="0"/>
      <p:bldP spid="40" grpId="0"/>
      <p:bldP spid="42" grpId="0"/>
      <p:bldP spid="4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95BE4E5-79AA-EE80-53D0-8C937EFD82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902" y="2497724"/>
            <a:ext cx="5719763" cy="455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Embedded Trace Macrocell V4: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33CE9-5C0F-E95D-6C96-E8790D30E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0865" y="2497724"/>
            <a:ext cx="5720400" cy="4553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Trace Memory Controller: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BE10C41-42D7-5F06-60DB-5F33F510D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Additional </a:t>
            </a:r>
            <a:r>
              <a:rPr lang="en-US" dirty="0" err="1"/>
              <a:t>OpenOCD</a:t>
            </a:r>
            <a:r>
              <a:rPr lang="en-US" dirty="0"/>
              <a:t> modules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FACE7F-E4D1-8FA6-A716-E22F96761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43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8F8637-C818-18DC-1723-1DEDF41903BD}"/>
              </a:ext>
            </a:extLst>
          </p:cNvPr>
          <p:cNvCxnSpPr>
            <a:cxnSpLocks/>
          </p:cNvCxnSpPr>
          <p:nvPr/>
        </p:nvCxnSpPr>
        <p:spPr>
          <a:xfrm flipH="1">
            <a:off x="5617109" y="2318335"/>
            <a:ext cx="8617" cy="2999221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5176994-123A-A69E-35E7-D6424F023E23}"/>
              </a:ext>
            </a:extLst>
          </p:cNvPr>
          <p:cNvSpPr txBox="1"/>
          <p:nvPr/>
        </p:nvSpPr>
        <p:spPr>
          <a:xfrm>
            <a:off x="504902" y="3132436"/>
            <a:ext cx="44358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Create ETM model object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Initialize the component inside the chip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Configure Trace generation 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Enable/Disable Trace generation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DF41E8-F503-072F-9E0C-D05DFD6C474E}"/>
              </a:ext>
            </a:extLst>
          </p:cNvPr>
          <p:cNvSpPr txBox="1"/>
          <p:nvPr/>
        </p:nvSpPr>
        <p:spPr>
          <a:xfrm>
            <a:off x="6300865" y="3132436"/>
            <a:ext cx="58131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Create TMC model object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Initialize the component inside the chip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Configure Trace capture features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Configure how to output the Trace data (e.g. a file, or callback function)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Enable/Disable Trace capture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44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8" grpId="0" build="p"/>
      <p:bldP spid="10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2D0C7-7777-F72F-4E3D-1318A9E2F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6D79F4-49FA-3742-0631-234EFC684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Trace Processing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676F85-C60C-2A4B-59AE-A6201542EB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335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A60CC-4E5E-E22C-6EAE-60C8F0018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1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Raw Trace Data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3F163-3A50-3238-CDAB-2C8134B2A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ADCAEC6-3F51-C32C-9F21-901845AE1A10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26A92E-21DD-C2C4-2C00-7A1896E28CA8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8F458BC-7936-8DF3-8546-4E3D22639465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059DDC-5226-5B8C-F751-F15E7F0E7743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8FD7C8-8CC3-9EB9-9E32-A9569532C38D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B6817C-1371-C4A7-0A1D-97EDB7FBB51A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17830D6-D1D5-6E70-D140-997146798EB9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0EF1B7D-41AB-7ECF-0A8D-928F999623BD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D56405-D0E3-018E-4F01-AD0DAC1C54D6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78D29D9-20DC-8424-FA21-D83DFCC49D12}"/>
              </a:ext>
            </a:extLst>
          </p:cNvPr>
          <p:cNvSpPr txBox="1"/>
          <p:nvPr/>
        </p:nvSpPr>
        <p:spPr>
          <a:xfrm>
            <a:off x="300037" y="3078017"/>
            <a:ext cx="11310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Once the data becomes available in the TMC, we can read it out via the Ram Read Data (RRD) register which acts as a FIFO (We continuously read from it until the value is 0xFFFFFFFF)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We save this data in the debugger and pass it to the next stages</a:t>
            </a:r>
          </a:p>
        </p:txBody>
      </p:sp>
    </p:spTree>
    <p:extLst>
      <p:ext uri="{BB962C8B-B14F-4D97-AF65-F5344CB8AC3E}">
        <p14:creationId xmlns:p14="http://schemas.microsoft.com/office/powerpoint/2010/main" val="3112587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21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077D3-229B-70FC-F305-326F211F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63C05-537F-428D-404D-297A90112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2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Instruction Trace Packets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0F1FF9-676B-78C3-DD11-187D33B79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46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C8AADB-2EB1-2A2F-F793-B4A7288B1C5F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EB15883-8DB0-2578-076A-9F5F4A035A55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631DD52-664D-EDC3-C057-563D54114C2E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6A83545-10B2-9190-E1ED-C108869154C0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EB6DFFB-8B28-FA71-05D3-B79F5DDCBA99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E63FEE-29E4-AEC8-3A4E-4F304D500DE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5B0089D-C129-9F08-F396-042152988DE0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F711A5-8EBE-186D-D055-D5BC0230CB4B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2743AA-0180-E7AF-8F2A-D4F4DCD66827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CF6018-A23E-9188-8BE9-7EAB9D2DF586}"/>
              </a:ext>
            </a:extLst>
          </p:cNvPr>
          <p:cNvSpPr txBox="1"/>
          <p:nvPr/>
        </p:nvSpPr>
        <p:spPr>
          <a:xfrm>
            <a:off x="300037" y="3078017"/>
            <a:ext cx="11310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CoreSight</a:t>
            </a:r>
            <a:r>
              <a:rPr lang="en-US" dirty="0"/>
              <a:t> Architecture Specification describes how to decode raw trace data into byte packets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We use </a:t>
            </a:r>
            <a:r>
              <a:rPr lang="en-US" dirty="0" err="1"/>
              <a:t>OpenCSD’s</a:t>
            </a:r>
            <a:r>
              <a:rPr lang="en-US" dirty="0"/>
              <a:t> implementation to get instruction trace packets out of the raw data.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At this point, the Trace packets aren’t decoded yet and aren’t useful.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5390D-D32B-0281-C078-B723B40BE889}"/>
              </a:ext>
            </a:extLst>
          </p:cNvPr>
          <p:cNvSpPr txBox="1"/>
          <p:nvPr/>
        </p:nvSpPr>
        <p:spPr>
          <a:xfrm>
            <a:off x="300037" y="4100946"/>
            <a:ext cx="688521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Packet types: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Trace On</a:t>
            </a:r>
            <a:r>
              <a:rPr lang="en-US" dirty="0"/>
              <a:t>: Indicates that tracing has started or restarted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Address</a:t>
            </a:r>
            <a:r>
              <a:rPr lang="en-US" dirty="0"/>
              <a:t>: Indicates the start address and Instruction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Atom</a:t>
            </a:r>
            <a:r>
              <a:rPr lang="en-US" dirty="0"/>
              <a:t>: Indicates whether a conditional branch was taken or not</a:t>
            </a:r>
          </a:p>
        </p:txBody>
      </p:sp>
    </p:spTree>
    <p:extLst>
      <p:ext uri="{BB962C8B-B14F-4D97-AF65-F5344CB8AC3E}">
        <p14:creationId xmlns:p14="http://schemas.microsoft.com/office/powerpoint/2010/main" val="16793260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13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D051-8CFF-42BE-061B-10716E02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BFFF4-F205-8236-8C5E-56BE5B2DB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Execution History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7CF696-AEE5-B3C8-7421-6B4B89013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47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71C53A-2CBB-7EC9-22C0-D5BEF90C9053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5BA920A-2C1B-C246-5ED7-8FB4EB795751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122B699-2555-D20A-8ADA-3B2151C42EE5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96F361-F64A-4317-E994-23167A0E2152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64272FF-05F0-78D4-8F97-F2145EDB0764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3D783FE-00ED-AF68-24BB-C69A17B5DA6C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C9E902-56A2-2DB1-19B8-F04088CFD9E5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BB63A6-7080-7370-1826-1FE838DA9BDE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3BB502F-7C2B-F329-6129-6EF2C846F8D5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B1A935A-E1DF-9842-6857-C10727D80C77}"/>
              </a:ext>
            </a:extLst>
          </p:cNvPr>
          <p:cNvSpPr txBox="1"/>
          <p:nvPr/>
        </p:nvSpPr>
        <p:spPr>
          <a:xfrm>
            <a:off x="300037" y="3078017"/>
            <a:ext cx="11310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Given the binary image of the firmware alongside the trace data, we can create a history of all the instructions executed by the processor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We again use </a:t>
            </a:r>
            <a:r>
              <a:rPr lang="en-US" dirty="0" err="1"/>
              <a:t>OpenCSD</a:t>
            </a:r>
            <a:r>
              <a:rPr lang="en-US" dirty="0"/>
              <a:t> to decode the trace packets into generic packet information, such as ranges of execution, and we combine these generic packets into a meaningful list of executed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897452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C972DB-828E-8484-8B5C-B67660F9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1F6C-24D3-4F04-7684-4F851789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3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Execution History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621863-FB25-4701-642D-0CFDFBA1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48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A98D013-9325-C562-A976-7D6A95D8D32F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E563792-3DB3-02FF-AF67-918C9DF2CF0C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EDDDE6-7BA2-0CB4-C929-043341EE5A2F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580B23C-FE41-B71F-575F-9ED7EFDA2532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F55F63B-6815-CE7B-24B3-AF67DB3D534A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99A4E9-0A29-0328-71F3-1606C188C753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70B1CF8-C1A4-FFC1-C7B0-22EDA2DDC050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A41203-87A2-6C29-2B0F-B2C83F58A23B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B025F8D-2A87-0174-487D-801BF7CA0651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757E60E-4241-75C5-75F7-2679440E4049}"/>
              </a:ext>
            </a:extLst>
          </p:cNvPr>
          <p:cNvCxnSpPr/>
          <p:nvPr/>
        </p:nvCxnSpPr>
        <p:spPr>
          <a:xfrm flipV="1">
            <a:off x="5726545" y="3020291"/>
            <a:ext cx="0" cy="3038764"/>
          </a:xfrm>
          <a:prstGeom prst="lin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D5E79A9-B42D-84DB-314C-FEE706BB767E}"/>
              </a:ext>
            </a:extLst>
          </p:cNvPr>
          <p:cNvSpPr txBox="1"/>
          <p:nvPr/>
        </p:nvSpPr>
        <p:spPr>
          <a:xfrm>
            <a:off x="1219055" y="3188568"/>
            <a:ext cx="317266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0x100	LDR 	R0, [R2]</a:t>
            </a:r>
          </a:p>
          <a:p>
            <a:pPr algn="l"/>
            <a:r>
              <a:rPr lang="en-US" dirty="0"/>
              <a:t>0x102	ADDS 	R4, R1, R0</a:t>
            </a:r>
          </a:p>
          <a:p>
            <a:pPr algn="l"/>
            <a:r>
              <a:rPr lang="en-US" dirty="0"/>
              <a:t>0x104	CMP 	R4, R0</a:t>
            </a:r>
          </a:p>
          <a:p>
            <a:pPr algn="l"/>
            <a:r>
              <a:rPr lang="en-US" dirty="0"/>
              <a:t>0x106	BEQ 	#0x200</a:t>
            </a:r>
          </a:p>
          <a:p>
            <a:pPr algn="l"/>
            <a:r>
              <a:rPr lang="en-US" dirty="0"/>
              <a:t>0x108	MOVS	R6, #0x0</a:t>
            </a:r>
          </a:p>
          <a:p>
            <a:pPr algn="l"/>
            <a:r>
              <a:rPr lang="en-US" dirty="0"/>
              <a:t>…</a:t>
            </a:r>
          </a:p>
          <a:p>
            <a:pPr algn="l"/>
            <a:r>
              <a:rPr lang="en-US" dirty="0"/>
              <a:t>0x200	PUSH 	{R4, LR}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CBFB486-9065-2BD1-96A4-D384B962C94B}"/>
              </a:ext>
            </a:extLst>
          </p:cNvPr>
          <p:cNvCxnSpPr>
            <a:cxnSpLocks/>
          </p:cNvCxnSpPr>
          <p:nvPr/>
        </p:nvCxnSpPr>
        <p:spPr>
          <a:xfrm>
            <a:off x="4165600" y="3380507"/>
            <a:ext cx="2493818" cy="0"/>
          </a:xfrm>
          <a:prstGeom prst="straightConnector1">
            <a:avLst/>
          </a:prstGeom>
          <a:ln w="3810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940B4BA-D9F8-9D9A-B29C-01410362D4C1}"/>
              </a:ext>
            </a:extLst>
          </p:cNvPr>
          <p:cNvSpPr txBox="1"/>
          <p:nvPr/>
        </p:nvSpPr>
        <p:spPr>
          <a:xfrm>
            <a:off x="6689715" y="2965008"/>
            <a:ext cx="261469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/>
              <a:t>- Trace Info Element</a:t>
            </a:r>
          </a:p>
          <a:p>
            <a:pPr algn="l"/>
            <a:r>
              <a:rPr lang="en-US" sz="1600" dirty="0"/>
              <a:t>- Trace On Element</a:t>
            </a:r>
          </a:p>
          <a:p>
            <a:pPr algn="l"/>
            <a:r>
              <a:rPr lang="en-US" sz="1600" dirty="0"/>
              <a:t>- Address Element (0x100)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3295AA83-DAC1-B27C-2530-7477B1325873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4391718" y="4204230"/>
            <a:ext cx="2267700" cy="1"/>
          </a:xfrm>
          <a:prstGeom prst="straightConnector1">
            <a:avLst/>
          </a:prstGeom>
          <a:ln w="3810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0E8759-8F93-F771-AAE9-2E0A369C2682}"/>
              </a:ext>
            </a:extLst>
          </p:cNvPr>
          <p:cNvSpPr txBox="1"/>
          <p:nvPr/>
        </p:nvSpPr>
        <p:spPr>
          <a:xfrm>
            <a:off x="6659418" y="4043209"/>
            <a:ext cx="32927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600" dirty="0"/>
              <a:t>Atom Element:</a:t>
            </a:r>
          </a:p>
          <a:p>
            <a:pPr algn="l"/>
            <a:r>
              <a:rPr lang="en-US" sz="1600" dirty="0"/>
              <a:t>- If the branch is taken Atom E</a:t>
            </a:r>
          </a:p>
          <a:p>
            <a:pPr algn="l"/>
            <a:r>
              <a:rPr lang="en-US" sz="1600" dirty="0"/>
              <a:t>- If the branch is not taken Atom N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B452C8F-301E-E9DE-D5C9-30F63A45B541}"/>
              </a:ext>
            </a:extLst>
          </p:cNvPr>
          <p:cNvCxnSpPr/>
          <p:nvPr/>
        </p:nvCxnSpPr>
        <p:spPr>
          <a:xfrm>
            <a:off x="9657846" y="4458707"/>
            <a:ext cx="588666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9FC39A6-C03B-F59C-D959-B98FA4A91B61}"/>
              </a:ext>
            </a:extLst>
          </p:cNvPr>
          <p:cNvSpPr txBox="1"/>
          <p:nvPr/>
        </p:nvSpPr>
        <p:spPr>
          <a:xfrm>
            <a:off x="10246512" y="4274041"/>
            <a:ext cx="1455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Continue @ 0x200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C2E56C8-E812-EF4E-7544-39E489613369}"/>
              </a:ext>
            </a:extLst>
          </p:cNvPr>
          <p:cNvCxnSpPr/>
          <p:nvPr/>
        </p:nvCxnSpPr>
        <p:spPr>
          <a:xfrm>
            <a:off x="9864682" y="4735706"/>
            <a:ext cx="588666" cy="0"/>
          </a:xfrm>
          <a:prstGeom prst="straightConnector1">
            <a:avLst/>
          </a:prstGeom>
          <a:ln w="22225"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CE19179-F383-5A65-A867-3FCDB5DBE389}"/>
              </a:ext>
            </a:extLst>
          </p:cNvPr>
          <p:cNvSpPr txBox="1"/>
          <p:nvPr/>
        </p:nvSpPr>
        <p:spPr>
          <a:xfrm>
            <a:off x="10453348" y="4551040"/>
            <a:ext cx="145584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1200" dirty="0"/>
              <a:t>Continue @ 0x108</a:t>
            </a:r>
          </a:p>
        </p:txBody>
      </p:sp>
    </p:spTree>
    <p:extLst>
      <p:ext uri="{BB962C8B-B14F-4D97-AF65-F5344CB8AC3E}">
        <p14:creationId xmlns:p14="http://schemas.microsoft.com/office/powerpoint/2010/main" val="3834740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5" grpId="0"/>
      <p:bldP spid="29" grpId="0"/>
      <p:bldP spid="3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63E65-B20F-E9F3-707A-B21DFABBA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2022C-C504-E8EA-63D0-F76818CFF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4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Corresponding instructions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F4450B-E945-55FB-543F-B99CF044C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49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3B35A5C-83F1-4FF0-EB4A-A4EAEDB83702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25F7A79-0908-3304-E8F3-C163A8CCD7FF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2CDB05-A9BA-6468-4296-BBC5807CBFB5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46DEE30-6442-9D3F-C951-BD669AB8E95A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14269E8-2986-AC8C-0516-E0F6D9C2FF9B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8938E63-BD20-9B0D-6126-EADD5867DE47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9C2643F-1F4E-3570-E363-F35D351939DB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E5B7BD-0A19-C203-EC0E-8456C878811D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BAD5CA3-FC43-ACFA-39AA-BF99E4346B80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63CEC7D-EFC2-D7EA-9F81-0947EB6FA890}"/>
              </a:ext>
            </a:extLst>
          </p:cNvPr>
          <p:cNvSpPr txBox="1"/>
          <p:nvPr/>
        </p:nvSpPr>
        <p:spPr>
          <a:xfrm>
            <a:off x="300037" y="3078017"/>
            <a:ext cx="113102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The earlier step provides the range of addresses that have been executed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We disassemble the firmware’s image and get the instructions corresponding to these addresses.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F708E8-2F81-C58B-5D65-DD3E7CE13128}"/>
              </a:ext>
            </a:extLst>
          </p:cNvPr>
          <p:cNvSpPr txBox="1"/>
          <p:nvPr/>
        </p:nvSpPr>
        <p:spPr>
          <a:xfrm>
            <a:off x="544946" y="4565992"/>
            <a:ext cx="44933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 dirty="0"/>
              <a:t>ADDR_RANGE(0x100, 0x106)</a:t>
            </a:r>
          </a:p>
        </p:txBody>
      </p:sp>
      <p:sp>
        <p:nvSpPr>
          <p:cNvPr id="14" name="!!NAT">
            <a:extLst>
              <a:ext uri="{FF2B5EF4-FFF2-40B4-BE49-F238E27FC236}">
                <a16:creationId xmlns:a16="http://schemas.microsoft.com/office/drawing/2014/main" id="{A4A2CCD1-5289-BC40-E7A7-311917D34D0D}"/>
              </a:ext>
            </a:extLst>
          </p:cNvPr>
          <p:cNvSpPr/>
          <p:nvPr/>
        </p:nvSpPr>
        <p:spPr>
          <a:xfrm>
            <a:off x="4960000" y="4494039"/>
            <a:ext cx="2272000" cy="646331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2959F83-2C34-8B81-E442-28332CA00058}"/>
              </a:ext>
            </a:extLst>
          </p:cNvPr>
          <p:cNvSpPr txBox="1"/>
          <p:nvPr/>
        </p:nvSpPr>
        <p:spPr>
          <a:xfrm>
            <a:off x="7407418" y="4217039"/>
            <a:ext cx="31542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/>
              <a:t>0x100	LDR 	R0, [R2]</a:t>
            </a:r>
          </a:p>
          <a:p>
            <a:pPr algn="l"/>
            <a:r>
              <a:rPr lang="en-US" sz="1800" dirty="0"/>
              <a:t>0x102	ADDS 	R4, R1, R0</a:t>
            </a:r>
          </a:p>
          <a:p>
            <a:pPr algn="l"/>
            <a:r>
              <a:rPr lang="en-US" sz="1800" dirty="0"/>
              <a:t>0x104	CMP 	R4, R0</a:t>
            </a:r>
          </a:p>
          <a:p>
            <a:pPr algn="l"/>
            <a:r>
              <a:rPr lang="en-US" sz="1800" dirty="0"/>
              <a:t>0x106	BEQ 	#0x200</a:t>
            </a:r>
          </a:p>
        </p:txBody>
      </p:sp>
    </p:spTree>
    <p:extLst>
      <p:ext uri="{BB962C8B-B14F-4D97-AF65-F5344CB8AC3E}">
        <p14:creationId xmlns:p14="http://schemas.microsoft.com/office/powerpoint/2010/main" val="10426792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  <p:bldP spid="13" grpId="0"/>
      <p:bldP spid="14" grpId="0" animBg="1"/>
      <p:bldP spid="1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BDF93-8798-F4DB-C9F3-C29D6DC78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54A54-C6D5-679D-8E12-76D2C15AA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Step 5</a:t>
            </a:r>
            <a:r>
              <a:rPr lang="en-US" b="1" dirty="0">
                <a:solidFill>
                  <a:srgbClr val="03234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</a:t>
            </a:r>
            <a:r>
              <a:rPr lang="en-US" b="1" dirty="0">
                <a:solidFill>
                  <a:srgbClr val="002060"/>
                </a:solidFill>
              </a:rPr>
              <a:t>Source Code Correlation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DDF67D-877E-E039-58AF-8A7C51E2D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50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D5CD7D2-0227-C49D-1885-4848B9038698}"/>
              </a:ext>
            </a:extLst>
          </p:cNvPr>
          <p:cNvSpPr/>
          <p:nvPr/>
        </p:nvSpPr>
        <p:spPr>
          <a:xfrm>
            <a:off x="300037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Raw Trace Data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04AAC41-3625-6085-66EE-1F0CD26A67EE}"/>
              </a:ext>
            </a:extLst>
          </p:cNvPr>
          <p:cNvSpPr/>
          <p:nvPr/>
        </p:nvSpPr>
        <p:spPr>
          <a:xfrm>
            <a:off x="2669164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Instruction Trace Packets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39D178E-FCB3-2829-A7FA-B27AB3DAAB97}"/>
              </a:ext>
            </a:extLst>
          </p:cNvPr>
          <p:cNvSpPr/>
          <p:nvPr/>
        </p:nvSpPr>
        <p:spPr>
          <a:xfrm>
            <a:off x="5038291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Execution History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55A48D-177D-E060-6A39-961E3AB7A2C1}"/>
              </a:ext>
            </a:extLst>
          </p:cNvPr>
          <p:cNvSpPr/>
          <p:nvPr/>
        </p:nvSpPr>
        <p:spPr>
          <a:xfrm>
            <a:off x="7407418" y="1831110"/>
            <a:ext cx="1838036" cy="831272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Corresponding Instructions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1A9C1D1-C099-6028-C969-C89D0976C4D2}"/>
              </a:ext>
            </a:extLst>
          </p:cNvPr>
          <p:cNvSpPr/>
          <p:nvPr/>
        </p:nvSpPr>
        <p:spPr>
          <a:xfrm>
            <a:off x="9772225" y="1831110"/>
            <a:ext cx="1838036" cy="831272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1400" b="1" dirty="0">
                <a:solidFill>
                  <a:srgbClr val="002060"/>
                </a:solidFill>
              </a:rPr>
              <a:t>Source Code Correlation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2FBFABF-70EC-56F5-ABE4-8C6CA1B9A50F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138073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FBBFF89-CDA9-90E6-79B4-91DBD885072B}"/>
              </a:ext>
            </a:extLst>
          </p:cNvPr>
          <p:cNvCxnSpPr/>
          <p:nvPr/>
        </p:nvCxnSpPr>
        <p:spPr>
          <a:xfrm>
            <a:off x="4507200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92D31F-3802-66AF-CAB0-7A7F97895936}"/>
              </a:ext>
            </a:extLst>
          </p:cNvPr>
          <p:cNvCxnSpPr/>
          <p:nvPr/>
        </p:nvCxnSpPr>
        <p:spPr>
          <a:xfrm>
            <a:off x="6876327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663A4D-4F41-0E81-77E1-BE7CEE695C16}"/>
              </a:ext>
            </a:extLst>
          </p:cNvPr>
          <p:cNvCxnSpPr/>
          <p:nvPr/>
        </p:nvCxnSpPr>
        <p:spPr>
          <a:xfrm>
            <a:off x="9241134" y="2246746"/>
            <a:ext cx="531091" cy="0"/>
          </a:xfrm>
          <a:prstGeom prst="straightConnector1">
            <a:avLst/>
          </a:prstGeom>
          <a:ln w="38100">
            <a:solidFill>
              <a:schemeClr val="accent1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A34FBE5-4E83-98C4-F965-5CDF802457EF}"/>
              </a:ext>
            </a:extLst>
          </p:cNvPr>
          <p:cNvSpPr txBox="1"/>
          <p:nvPr/>
        </p:nvSpPr>
        <p:spPr>
          <a:xfrm>
            <a:off x="300037" y="3078017"/>
            <a:ext cx="11310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To get more insightful information, we can parse the debug information in the ELF file corresponding to the executed instructions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Examples of this information: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variables corresponding to the instruction’s operands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 line number and file name corresponding to the instruction.</a:t>
            </a:r>
          </a:p>
        </p:txBody>
      </p:sp>
    </p:spTree>
    <p:extLst>
      <p:ext uri="{BB962C8B-B14F-4D97-AF65-F5344CB8AC3E}">
        <p14:creationId xmlns:p14="http://schemas.microsoft.com/office/powerpoint/2010/main" val="27605060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AFC36-E300-5384-1220-1C6828702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6A973B-61F5-EBBE-70FB-6E2F857F8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UI Views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E4108-4627-08BD-1DBD-FE75312438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1645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FB3B6-78A4-3311-9B01-7467F74E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Trace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9F7FF3-24C6-7998-1117-E7A1B5C5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52</a:t>
            </a:fld>
            <a:endParaRPr lang="en-US"/>
          </a:p>
        </p:txBody>
      </p:sp>
      <p:pic>
        <p:nvPicPr>
          <p:cNvPr id="5" name="Google Shape;507;p46" descr="instruction_trace_ui.png">
            <a:extLst>
              <a:ext uri="{FF2B5EF4-FFF2-40B4-BE49-F238E27FC236}">
                <a16:creationId xmlns:a16="http://schemas.microsoft.com/office/drawing/2014/main" id="{7B16C689-D5B5-4E4D-450F-4FF2BA06F08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737374" y="899405"/>
            <a:ext cx="4734483" cy="5577840"/>
          </a:xfrm>
          <a:prstGeom prst="rect">
            <a:avLst/>
          </a:prstGeom>
          <a:noFill/>
          <a:ln w="19050" cap="flat" cmpd="sng">
            <a:solidFill>
              <a:srgbClr val="03234B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3FC2DB2-AFC7-42D8-F4FD-01D85E6FDCF7}"/>
              </a:ext>
            </a:extLst>
          </p:cNvPr>
          <p:cNvCxnSpPr>
            <a:cxnSpLocks/>
            <a:stCxn id="22" idx="3"/>
            <a:endCxn id="10" idx="1"/>
          </p:cNvCxnSpPr>
          <p:nvPr/>
        </p:nvCxnSpPr>
        <p:spPr>
          <a:xfrm flipV="1">
            <a:off x="2255559" y="1505528"/>
            <a:ext cx="1725314" cy="200603"/>
          </a:xfrm>
          <a:prstGeom prst="straightConnector1">
            <a:avLst/>
          </a:prstGeom>
          <a:ln w="3810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07E92B5-6DE1-29E1-B164-47E8EF6EE177}"/>
              </a:ext>
            </a:extLst>
          </p:cNvPr>
          <p:cNvSpPr/>
          <p:nvPr/>
        </p:nvSpPr>
        <p:spPr>
          <a:xfrm>
            <a:off x="3980873" y="1413164"/>
            <a:ext cx="729672" cy="18472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0D1830-29B0-7AFB-354C-EA91C92755F8}"/>
              </a:ext>
            </a:extLst>
          </p:cNvPr>
          <p:cNvSpPr/>
          <p:nvPr/>
        </p:nvSpPr>
        <p:spPr>
          <a:xfrm>
            <a:off x="4741607" y="1413164"/>
            <a:ext cx="1046239" cy="18472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EA0FA6-1240-A022-3B10-AC37EDBD286D}"/>
              </a:ext>
            </a:extLst>
          </p:cNvPr>
          <p:cNvSpPr/>
          <p:nvPr/>
        </p:nvSpPr>
        <p:spPr>
          <a:xfrm>
            <a:off x="5818908" y="1413163"/>
            <a:ext cx="1384373" cy="184727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C85F10F-A32A-AB5C-5F7E-A286854B5C7D}"/>
              </a:ext>
            </a:extLst>
          </p:cNvPr>
          <p:cNvCxnSpPr>
            <a:endCxn id="12" idx="2"/>
          </p:cNvCxnSpPr>
          <p:nvPr/>
        </p:nvCxnSpPr>
        <p:spPr>
          <a:xfrm flipH="1" flipV="1">
            <a:off x="5264726" y="1607127"/>
            <a:ext cx="3703783" cy="1394691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A872A01-8B07-F7EC-9A20-9C9EB4000505}"/>
              </a:ext>
            </a:extLst>
          </p:cNvPr>
          <p:cNvCxnSpPr/>
          <p:nvPr/>
        </p:nvCxnSpPr>
        <p:spPr>
          <a:xfrm flipH="1" flipV="1">
            <a:off x="7203281" y="1505526"/>
            <a:ext cx="2614974" cy="92364"/>
          </a:xfrm>
          <a:prstGeom prst="straightConnector1">
            <a:avLst/>
          </a:prstGeom>
          <a:ln w="38100">
            <a:solidFill>
              <a:schemeClr val="accent2"/>
            </a:solidFill>
            <a:headEnd type="none"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A822746-39B6-3092-63F7-2FC90A3CFE62}"/>
              </a:ext>
            </a:extLst>
          </p:cNvPr>
          <p:cNvSpPr txBox="1"/>
          <p:nvPr/>
        </p:nvSpPr>
        <p:spPr>
          <a:xfrm>
            <a:off x="108753" y="1521465"/>
            <a:ext cx="2146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Instruction Address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9FB039-2C13-803D-29DA-A89AD2794449}"/>
              </a:ext>
            </a:extLst>
          </p:cNvPr>
          <p:cNvSpPr txBox="1"/>
          <p:nvPr/>
        </p:nvSpPr>
        <p:spPr>
          <a:xfrm>
            <a:off x="8968509" y="2817152"/>
            <a:ext cx="2377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dirty="0"/>
              <a:t>Instruction Mnemonic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5AD428-74FC-FB33-09F1-0463E3024E35}"/>
              </a:ext>
            </a:extLst>
          </p:cNvPr>
          <p:cNvSpPr txBox="1"/>
          <p:nvPr/>
        </p:nvSpPr>
        <p:spPr>
          <a:xfrm>
            <a:off x="9799789" y="1244466"/>
            <a:ext cx="20921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File name and line number of the instruction</a:t>
            </a:r>
          </a:p>
        </p:txBody>
      </p:sp>
    </p:spTree>
    <p:extLst>
      <p:ext uri="{BB962C8B-B14F-4D97-AF65-F5344CB8AC3E}">
        <p14:creationId xmlns:p14="http://schemas.microsoft.com/office/powerpoint/2010/main" val="42323767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22" grpId="0"/>
      <p:bldP spid="25" grpId="0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56C3B-B01B-37E0-C02D-4FCE32EC0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1F1BC-4ADE-1193-9299-DD3657ACF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Trace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29D43-4A5C-E21B-7057-8AE5DCF9D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53</a:t>
            </a:fld>
            <a:endParaRPr lang="en-US"/>
          </a:p>
        </p:txBody>
      </p:sp>
      <p:pic>
        <p:nvPicPr>
          <p:cNvPr id="5" name="Google Shape;515;p47" descr="function_trace_ui.png">
            <a:extLst>
              <a:ext uri="{FF2B5EF4-FFF2-40B4-BE49-F238E27FC236}">
                <a16:creationId xmlns:a16="http://schemas.microsoft.com/office/drawing/2014/main" id="{56E15CCC-D82E-E5CC-D4E6-5B1C6F8DAA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50000"/>
          <a:stretch>
            <a:fillRect/>
          </a:stretch>
        </p:blipFill>
        <p:spPr>
          <a:xfrm>
            <a:off x="1981200" y="932819"/>
            <a:ext cx="4114800" cy="5471730"/>
          </a:xfrm>
          <a:prstGeom prst="rect">
            <a:avLst/>
          </a:prstGeom>
          <a:noFill/>
          <a:ln w="19050" cap="flat" cmpd="sng">
            <a:solidFill>
              <a:srgbClr val="03234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" name="Right Brace 5">
            <a:extLst>
              <a:ext uri="{FF2B5EF4-FFF2-40B4-BE49-F238E27FC236}">
                <a16:creationId xmlns:a16="http://schemas.microsoft.com/office/drawing/2014/main" id="{C887A34A-534D-1A86-36B1-CD6B02036540}"/>
              </a:ext>
            </a:extLst>
          </p:cNvPr>
          <p:cNvSpPr/>
          <p:nvPr/>
        </p:nvSpPr>
        <p:spPr>
          <a:xfrm>
            <a:off x="6169891" y="1782618"/>
            <a:ext cx="1043709" cy="4368800"/>
          </a:xfrm>
          <a:prstGeom prst="rightBrace">
            <a:avLst/>
          </a:prstGeom>
          <a:ln w="22225"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25DB58-61A5-E874-89F1-A0AE3AD867DB}"/>
              </a:ext>
            </a:extLst>
          </p:cNvPr>
          <p:cNvSpPr txBox="1"/>
          <p:nvPr/>
        </p:nvSpPr>
        <p:spPr>
          <a:xfrm>
            <a:off x="7269170" y="3489964"/>
            <a:ext cx="47520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Sequential order of executed functions</a:t>
            </a:r>
          </a:p>
        </p:txBody>
      </p:sp>
    </p:spTree>
    <p:extLst>
      <p:ext uri="{BB962C8B-B14F-4D97-AF65-F5344CB8AC3E}">
        <p14:creationId xmlns:p14="http://schemas.microsoft.com/office/powerpoint/2010/main" val="33572956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6053D6-DDEE-735F-E245-4C1AF5C6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2544C9-5C53-ED73-113B-968AEC07C3CE}"/>
              </a:ext>
            </a:extLst>
          </p:cNvPr>
          <p:cNvSpPr txBox="1"/>
          <p:nvPr/>
        </p:nvSpPr>
        <p:spPr>
          <a:xfrm>
            <a:off x="1457550" y="3167390"/>
            <a:ext cx="92768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800" b="1" dirty="0"/>
              <a:t>I added a few extra things that are supported natively</a:t>
            </a:r>
          </a:p>
        </p:txBody>
      </p:sp>
    </p:spTree>
    <p:extLst>
      <p:ext uri="{BB962C8B-B14F-4D97-AF65-F5344CB8AC3E}">
        <p14:creationId xmlns:p14="http://schemas.microsoft.com/office/powerpoint/2010/main" val="6348490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7AF4C-0624-2FC4-58EE-D04781B6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Peripheral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4EE0D-9E4B-25FE-6478-B494BCDC9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55</a:t>
            </a:fld>
            <a:endParaRPr lang="en-US"/>
          </a:p>
        </p:txBody>
      </p:sp>
      <p:pic>
        <p:nvPicPr>
          <p:cNvPr id="5" name="Google Shape;499;p45" descr="peripheral_view_ui.png">
            <a:extLst>
              <a:ext uri="{FF2B5EF4-FFF2-40B4-BE49-F238E27FC236}">
                <a16:creationId xmlns:a16="http://schemas.microsoft.com/office/drawing/2014/main" id="{4A6ED6B4-6B8C-D9A5-DF15-CD9B4357E86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03504" y="685800"/>
            <a:ext cx="3184686" cy="5577840"/>
          </a:xfrm>
          <a:prstGeom prst="rect">
            <a:avLst/>
          </a:prstGeom>
          <a:noFill/>
          <a:ln w="19050" cap="flat" cmpd="sng">
            <a:solidFill>
              <a:srgbClr val="03234B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948306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DF7-51E9-5F7D-80F7-F72FE9C1F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View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E592B7-6761-C819-D540-874179BD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56</a:t>
            </a:fld>
            <a:endParaRPr lang="en-US"/>
          </a:p>
        </p:txBody>
      </p:sp>
      <p:pic>
        <p:nvPicPr>
          <p:cNvPr id="5" name="Google Shape;490;p44" descr="memory_view_regions.png">
            <a:extLst>
              <a:ext uri="{FF2B5EF4-FFF2-40B4-BE49-F238E27FC236}">
                <a16:creationId xmlns:a16="http://schemas.microsoft.com/office/drawing/2014/main" id="{F47DC09F-903D-4811-D29A-137A4A0055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0770" y="1304924"/>
            <a:ext cx="2743200" cy="4696115"/>
          </a:xfrm>
          <a:prstGeom prst="rect">
            <a:avLst/>
          </a:prstGeom>
          <a:noFill/>
          <a:ln w="19050" cap="flat" cmpd="sng">
            <a:solidFill>
              <a:srgbClr val="03234B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" name="Google Shape;491;p44" descr="memory_view_ui.png">
            <a:extLst>
              <a:ext uri="{FF2B5EF4-FFF2-40B4-BE49-F238E27FC236}">
                <a16:creationId xmlns:a16="http://schemas.microsoft.com/office/drawing/2014/main" id="{13FF4CE7-C76B-A697-633E-35DCF17E93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3621" y="1100646"/>
            <a:ext cx="7406640" cy="4900393"/>
          </a:xfrm>
          <a:prstGeom prst="rect">
            <a:avLst/>
          </a:prstGeom>
          <a:noFill/>
          <a:ln w="19050" cap="flat" cmpd="sng">
            <a:solidFill>
              <a:srgbClr val="03234B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FFCB2A-0432-A400-9A8F-F86241756CD0}"/>
              </a:ext>
            </a:extLst>
          </p:cNvPr>
          <p:cNvSpPr/>
          <p:nvPr/>
        </p:nvSpPr>
        <p:spPr>
          <a:xfrm>
            <a:off x="7164977" y="1499779"/>
            <a:ext cx="2956924" cy="2351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endParaRPr lang="en-US" dirty="0" err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C3D0FD1-EB1A-CF34-1F90-BCEDA0680100}"/>
              </a:ext>
            </a:extLst>
          </p:cNvPr>
          <p:cNvCxnSpPr>
            <a:stCxn id="8" idx="1"/>
            <a:endCxn id="5" idx="3"/>
          </p:cNvCxnSpPr>
          <p:nvPr/>
        </p:nvCxnSpPr>
        <p:spPr>
          <a:xfrm flipH="1">
            <a:off x="3483970" y="1617345"/>
            <a:ext cx="3681007" cy="2035637"/>
          </a:xfrm>
          <a:prstGeom prst="straightConnector1">
            <a:avLst/>
          </a:prstGeom>
          <a:ln w="38100">
            <a:headEnd type="none" w="lg" len="lg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369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690DE-EA59-0755-6CA5-4980185A4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</a:t>
            </a:r>
            <a:r>
              <a:rPr lang="en-US" dirty="0" err="1"/>
              <a:t>VSCode</a:t>
            </a:r>
            <a:r>
              <a:rPr lang="en-US" dirty="0"/>
              <a:t> Configuration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176D38-5DD6-846C-24EF-746ECE0DC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DA4AE2-8427-D76F-2456-A435D7C0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346" y="1304924"/>
            <a:ext cx="8892540" cy="453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53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408F9-8864-0B2D-E0D2-F8754490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FBCC442-FD25-E813-5E00-A2FD8E790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399" y="419894"/>
            <a:ext cx="9372601" cy="1484312"/>
          </a:xfrm>
        </p:spPr>
        <p:txBody>
          <a:bodyPr/>
          <a:lstStyle/>
          <a:p>
            <a:r>
              <a:rPr lang="en-US" dirty="0"/>
              <a:t>Perspective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15555A-66D8-94AB-DA76-9D472219D1F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681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7D63-73BB-C244-A9A9-5E1362A8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2A94E4-0698-A4F3-387C-24F3D312B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59</a:t>
            </a:fld>
            <a:endParaRPr lang="en-US"/>
          </a:p>
        </p:txBody>
      </p:sp>
      <p:sp>
        <p:nvSpPr>
          <p:cNvPr id="5" name="Google Shape;532;p49">
            <a:extLst>
              <a:ext uri="{FF2B5EF4-FFF2-40B4-BE49-F238E27FC236}">
                <a16:creationId xmlns:a16="http://schemas.microsoft.com/office/drawing/2014/main" id="{58063F26-2C48-1973-8578-BE4302C0167A}"/>
              </a:ext>
            </a:extLst>
          </p:cNvPr>
          <p:cNvSpPr/>
          <p:nvPr/>
        </p:nvSpPr>
        <p:spPr>
          <a:xfrm>
            <a:off x="883767" y="2468880"/>
            <a:ext cx="4937760" cy="13716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Conditional Tracing</a:t>
            </a:r>
            <a:endParaRPr/>
          </a:p>
        </p:txBody>
      </p:sp>
      <p:sp>
        <p:nvSpPr>
          <p:cNvPr id="7" name="Google Shape;533;p49">
            <a:extLst>
              <a:ext uri="{FF2B5EF4-FFF2-40B4-BE49-F238E27FC236}">
                <a16:creationId xmlns:a16="http://schemas.microsoft.com/office/drawing/2014/main" id="{9455F61B-BBA3-D36C-56A8-9475BB47E195}"/>
              </a:ext>
            </a:extLst>
          </p:cNvPr>
          <p:cNvSpPr/>
          <p:nvPr/>
        </p:nvSpPr>
        <p:spPr>
          <a:xfrm>
            <a:off x="6370167" y="2468880"/>
            <a:ext cx="4937760" cy="13716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Multi-Core &amp; Multi-Buffer Support</a:t>
            </a:r>
            <a:endParaRPr/>
          </a:p>
        </p:txBody>
      </p:sp>
      <p:sp>
        <p:nvSpPr>
          <p:cNvPr id="9" name="Google Shape;534;p49">
            <a:extLst>
              <a:ext uri="{FF2B5EF4-FFF2-40B4-BE49-F238E27FC236}">
                <a16:creationId xmlns:a16="http://schemas.microsoft.com/office/drawing/2014/main" id="{F21FF234-B733-7129-CF92-D92120CA0520}"/>
              </a:ext>
            </a:extLst>
          </p:cNvPr>
          <p:cNvSpPr/>
          <p:nvPr/>
        </p:nvSpPr>
        <p:spPr>
          <a:xfrm>
            <a:off x="883767" y="4206240"/>
            <a:ext cx="4937760" cy="13716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Profiling &amp; Coverage</a:t>
            </a:r>
            <a:endParaRPr/>
          </a:p>
        </p:txBody>
      </p:sp>
      <p:sp>
        <p:nvSpPr>
          <p:cNvPr id="11" name="Google Shape;535;p49">
            <a:extLst>
              <a:ext uri="{FF2B5EF4-FFF2-40B4-BE49-F238E27FC236}">
                <a16:creationId xmlns:a16="http://schemas.microsoft.com/office/drawing/2014/main" id="{8EC78601-5EF8-DFD7-BD61-847C601E40C5}"/>
              </a:ext>
            </a:extLst>
          </p:cNvPr>
          <p:cNvSpPr/>
          <p:nvPr/>
        </p:nvSpPr>
        <p:spPr>
          <a:xfrm>
            <a:off x="6370167" y="4206240"/>
            <a:ext cx="4937760" cy="1371600"/>
          </a:xfrm>
          <a:prstGeom prst="roundRect">
            <a:avLst>
              <a:gd name="adj" fmla="val 16667"/>
            </a:avLst>
          </a:prstGeom>
          <a:solidFill>
            <a:srgbClr val="03234B"/>
          </a:solidFill>
          <a:ln>
            <a:noFill/>
          </a:ln>
        </p:spPr>
        <p:txBody>
          <a:bodyPr spcFirstLastPara="1" wrap="square" lIns="54850" tIns="18275" rIns="54850" bIns="18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Graphical Configuration Interface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11502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2BE1DA-21B5-D893-DA2E-D012AF6B5395}"/>
              </a:ext>
            </a:extLst>
          </p:cNvPr>
          <p:cNvSpPr/>
          <p:nvPr/>
        </p:nvSpPr>
        <p:spPr>
          <a:xfrm>
            <a:off x="3013656" y="1712890"/>
            <a:ext cx="6272012" cy="19125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chemeClr val="bg1"/>
              </a:buClr>
            </a:pPr>
            <a:r>
              <a:rPr lang="en-US" sz="5400" dirty="0"/>
              <a:t>Thank you for your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9730D-8E79-05DD-D644-07007AECDD16}"/>
              </a:ext>
            </a:extLst>
          </p:cNvPr>
          <p:cNvSpPr txBox="1"/>
          <p:nvPr/>
        </p:nvSpPr>
        <p:spPr>
          <a:xfrm>
            <a:off x="4772561" y="4243589"/>
            <a:ext cx="2646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19752377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7B42D-B023-3C87-596C-C6B48A588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4FFDDB40-E956-5B30-8591-9D3652277695}"/>
              </a:ext>
            </a:extLst>
          </p:cNvPr>
          <p:cNvGrpSpPr/>
          <p:nvPr/>
        </p:nvGrpSpPr>
        <p:grpSpPr>
          <a:xfrm>
            <a:off x="2771951" y="4347316"/>
            <a:ext cx="6420472" cy="952500"/>
            <a:chOff x="2414184" y="4286537"/>
            <a:chExt cx="6420472" cy="952500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B17392-35E9-0870-9805-2B6F26B2958F}"/>
                </a:ext>
              </a:extLst>
            </p:cNvPr>
            <p:cNvSpPr txBox="1"/>
            <p:nvPr/>
          </p:nvSpPr>
          <p:spPr>
            <a:xfrm>
              <a:off x="3366684" y="4470400"/>
              <a:ext cx="546797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>
                  <a:solidFill>
                    <a:schemeClr val="bg1"/>
                  </a:solidFill>
                </a:rPr>
                <a:t>Find out more at </a:t>
              </a:r>
              <a:r>
                <a:rPr lang="en-US" sz="3200" dirty="0">
                  <a:solidFill>
                    <a:schemeClr val="accent3"/>
                  </a:solidFill>
                  <a:hlinkClick r:id="rId2"/>
                </a:rPr>
                <a:t>www.st.com</a:t>
              </a:r>
              <a:endParaRPr lang="en-US" sz="3200" dirty="0">
                <a:solidFill>
                  <a:schemeClr val="accent3"/>
                </a:solidFill>
              </a:endParaRP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E0EF4DC-7458-EAD8-93D7-9D5E5FD10D3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14184" y="4286537"/>
              <a:ext cx="952500" cy="9525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2388677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BF0139B-0BEB-449C-B1F7-80D4F54F3FC1}"/>
              </a:ext>
            </a:extLst>
          </p:cNvPr>
          <p:cNvGrpSpPr/>
          <p:nvPr/>
        </p:nvGrpSpPr>
        <p:grpSpPr>
          <a:xfrm>
            <a:off x="4688541" y="0"/>
            <a:ext cx="7503459" cy="6858000"/>
            <a:chOff x="4688541" y="0"/>
            <a:chExt cx="7503459" cy="68580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5975067-3004-4E25-8B69-CACB0B1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8541" y="0"/>
              <a:ext cx="7503459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C8AF24E-0C24-4EB7-8B46-271260356B65}"/>
                </a:ext>
              </a:extLst>
            </p:cNvPr>
            <p:cNvSpPr/>
            <p:nvPr/>
          </p:nvSpPr>
          <p:spPr>
            <a:xfrm>
              <a:off x="11640457" y="0"/>
              <a:ext cx="551543" cy="6858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AB759B23-2AC6-4702-845A-24B397B67FAF}"/>
              </a:ext>
            </a:extLst>
          </p:cNvPr>
          <p:cNvSpPr txBox="1"/>
          <p:nvPr/>
        </p:nvSpPr>
        <p:spPr>
          <a:xfrm>
            <a:off x="188686" y="2513364"/>
            <a:ext cx="4325257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en-US" dirty="0"/>
              <a:t>For further support in creating a PowerPoint presentation, including graphic assets, formatting tools and additional information on the ST brand</a:t>
            </a:r>
          </a:p>
          <a:p>
            <a:pPr algn="ctr">
              <a:spcBef>
                <a:spcPts val="600"/>
              </a:spcBef>
            </a:pPr>
            <a:r>
              <a:rPr lang="en-US" b="1" dirty="0"/>
              <a:t>you can visit the ST Brand Portal</a:t>
            </a:r>
            <a:br>
              <a:rPr lang="en-US" dirty="0"/>
            </a:br>
            <a:r>
              <a:rPr lang="en-US" dirty="0">
                <a:hlinkClick r:id="rId4"/>
              </a:rPr>
              <a:t>https://brandportal.st.com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5C1E9B-D24D-13B6-E618-152C56336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2314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23add6c0-cfdb-4bb9-b90f-bf23b83aa6c0}" enabled="1" method="Privileged" siteId="{75e027c9-20d5-47d5-b82f-77d7cd041e8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64</TotalTime>
  <Words>1632</Words>
  <Application>Microsoft Office PowerPoint</Application>
  <PresentationFormat>Widescreen</PresentationFormat>
  <Paragraphs>366</Paragraphs>
  <Slides>62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6" baseType="lpstr">
      <vt:lpstr>Arial</vt:lpstr>
      <vt:lpstr>Calibri</vt:lpstr>
      <vt:lpstr>Quattrocento Sans</vt:lpstr>
      <vt:lpstr>ST PowerPoint Template 16x9</vt:lpstr>
      <vt:lpstr>STM32 Debugger With Instruction Trace support</vt:lpstr>
      <vt:lpstr>Agenda</vt:lpstr>
      <vt:lpstr>Debugging embedded systems</vt:lpstr>
      <vt:lpstr>How Embedded Debugging Works</vt:lpstr>
      <vt:lpstr>How Embedded Debugging Works</vt:lpstr>
      <vt:lpstr>How Embedded Debugging Works</vt:lpstr>
      <vt:lpstr>How Embedded Debugging Works</vt:lpstr>
      <vt:lpstr>What is Trace</vt:lpstr>
      <vt:lpstr>To understand trace, we need to understand the different types of debugging</vt:lpstr>
      <vt:lpstr>Typical debugging actions</vt:lpstr>
      <vt:lpstr>Debugging types</vt:lpstr>
      <vt:lpstr>PowerPoint Presentation</vt:lpstr>
      <vt:lpstr>PowerPoint Presentation</vt:lpstr>
      <vt:lpstr>PowerPoint Presentation</vt:lpstr>
      <vt:lpstr>Debug Infrastructure in STM32 MCUs</vt:lpstr>
      <vt:lpstr>Debug Infrastructure in STM32 MCUs</vt:lpstr>
      <vt:lpstr>Debug Infrastructure in STM32 MCUs</vt:lpstr>
      <vt:lpstr>Trace Sources in STM32 MCUs</vt:lpstr>
      <vt:lpstr>Debug Infrastructure in STM32 MCUs</vt:lpstr>
      <vt:lpstr>PowerPoint Presentation</vt:lpstr>
      <vt:lpstr>Debug Infrastructure in STM32 MCUs</vt:lpstr>
      <vt:lpstr>Trace Sinks in STM32 MCUs</vt:lpstr>
      <vt:lpstr>Trace Sinks</vt:lpstr>
      <vt:lpstr>PowerPoint Presentation</vt:lpstr>
      <vt:lpstr>Full Path of Trace Data</vt:lpstr>
      <vt:lpstr>PowerPoint Presentation</vt:lpstr>
      <vt:lpstr>PowerPoint Presentation</vt:lpstr>
      <vt:lpstr>Problem</vt:lpstr>
      <vt:lpstr>Instruction Trace Today</vt:lpstr>
      <vt:lpstr>The Gaps</vt:lpstr>
      <vt:lpstr>Proposed Solution</vt:lpstr>
      <vt:lpstr>Proposed Solution</vt:lpstr>
      <vt:lpstr>PowerPoint Presentation</vt:lpstr>
      <vt:lpstr>Why a new debugger</vt:lpstr>
      <vt:lpstr>Debugger Architecture</vt:lpstr>
      <vt:lpstr>A Debugger Has Two Jobs</vt:lpstr>
      <vt:lpstr>User Interface</vt:lpstr>
      <vt:lpstr>Inside the Debugger’s Core</vt:lpstr>
      <vt:lpstr>Inside the Debugger’s Core</vt:lpstr>
      <vt:lpstr>Trace Extraction</vt:lpstr>
      <vt:lpstr>Integrating OpenOCD</vt:lpstr>
      <vt:lpstr>OpenOCD Architecture for Cortex-M devices</vt:lpstr>
      <vt:lpstr>Additional OpenOCD modules</vt:lpstr>
      <vt:lpstr>Trace Processing</vt:lpstr>
      <vt:lpstr>Step 1 — Raw Trace Data</vt:lpstr>
      <vt:lpstr>Step 2 — Instruction Trace Packets</vt:lpstr>
      <vt:lpstr>Step 3 — Execution History</vt:lpstr>
      <vt:lpstr>Step 3 — Execution History</vt:lpstr>
      <vt:lpstr>Step 4 — Corresponding instructions</vt:lpstr>
      <vt:lpstr>Step 5 — Source Code Correlation</vt:lpstr>
      <vt:lpstr>UI Views</vt:lpstr>
      <vt:lpstr>Instruction Trace View</vt:lpstr>
      <vt:lpstr>Function Trace View</vt:lpstr>
      <vt:lpstr>PowerPoint Presentation</vt:lpstr>
      <vt:lpstr>Peripheral View</vt:lpstr>
      <vt:lpstr>Memory View</vt:lpstr>
      <vt:lpstr>Sample VSCode Configuration</vt:lpstr>
      <vt:lpstr>Perspective</vt:lpstr>
      <vt:lpstr>Perspective</vt:lpstr>
      <vt:lpstr>PowerPoint Presentation</vt:lpstr>
      <vt:lpstr>PowerPoint Presentation</vt:lpstr>
      <vt:lpstr>PowerPoint Presentation</vt:lpstr>
    </vt:vector>
  </TitlesOfParts>
  <Manager/>
  <Company>STMicroelectronics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HASNAOUI</dc:creator>
  <cp:keywords/>
  <cp:lastModifiedBy>Youssef HASNAOUI</cp:lastModifiedBy>
  <cp:revision>1</cp:revision>
  <dcterms:created xsi:type="dcterms:W3CDTF">2026-08-04T08:19:57Z</dcterms:created>
  <dcterms:modified xsi:type="dcterms:W3CDTF">2026-08-06T17:57:34Z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ST PowerPoint Template 16x9:10</vt:lpwstr>
  </property>
  <property fmtid="{D5CDD505-2E9C-101B-9397-08002B2CF9AE}" pid="3" name="ClassificationContentMarkingFooterText">
    <vt:lpwstr>ST Restricted</vt:lpwstr>
  </property>
</Properties>
</file>